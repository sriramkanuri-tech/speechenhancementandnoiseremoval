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BM Plex Mono Bold" charset="1" panose="020B0809050203000203"/>
      <p:regular r:id="rId17"/>
    </p:embeddedFont>
    <p:embeddedFont>
      <p:font typeface="Montserrat Bold" charset="1" panose="00000800000000000000"/>
      <p:regular r:id="rId18"/>
    </p:embeddedFont>
    <p:embeddedFont>
      <p:font typeface="IBM Plex Sans" charset="1" panose="020B0503050203000203"/>
      <p:regular r:id="rId19"/>
    </p:embeddedFont>
    <p:embeddedFont>
      <p:font typeface="IBM Plex Sans Bold" charset="1" panose="020B0803050203000203"/>
      <p:regular r:id="rId20"/>
    </p:embeddedFont>
    <p:embeddedFont>
      <p:font typeface="ITC Franklin Gothic LT" charset="1" panose="020B0504030503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A33">
                <a:alpha val="6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C5D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3000" y="1009650"/>
            <a:ext cx="10001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29C5D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B.TECH ECE  •  FIRST REVIEW  •  2025–26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2305050"/>
            <a:ext cx="11239500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5"/>
              </a:lnSpc>
            </a:pPr>
            <a:r>
              <a:rPr lang="en-US" sz="8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SPEECH</a:t>
            </a:r>
          </a:p>
          <a:p>
            <a:pPr algn="l">
              <a:lnSpc>
                <a:spcPts val="8505"/>
              </a:lnSpc>
            </a:pPr>
            <a:r>
              <a:rPr lang="en-US" sz="8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ENHANCEMENT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0150" y="4610100"/>
            <a:ext cx="9525000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3375" b="true">
                <a:solidFill>
                  <a:srgbClr val="29C5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AND NOISE REMOVAL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143000" y="6762750"/>
            <a:ext cx="3810000" cy="0"/>
          </a:xfrm>
          <a:prstGeom prst="line">
            <a:avLst/>
          </a:prstGeom>
          <a:ln cap="rnd" w="47625">
            <a:solidFill>
              <a:srgbClr val="29C5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143000" y="7172325"/>
            <a:ext cx="1095375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R. Sai Samartha Reddy  ·  Sriram Kanuri  ·  Rishi Vardhan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7800975"/>
            <a:ext cx="10287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Guide  Dr. V Sahiti</a:t>
            </a:r>
          </a:p>
          <a:p>
            <a:pPr algn="l">
              <a:lnSpc>
                <a:spcPts val="1950"/>
              </a:lnSpc>
            </a:pPr>
            <a:r>
              <a:rPr lang="en-US" sz="1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Department of Electronics and Communication Engineering</a:t>
            </a:r>
          </a:p>
          <a:p>
            <a:pPr algn="l">
              <a:lnSpc>
                <a:spcPts val="1950"/>
              </a:lnSpc>
            </a:pPr>
            <a:r>
              <a:rPr lang="en-US" sz="1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KL University, Hyderabad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1000" y="8401050"/>
            <a:ext cx="0" cy="342900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00" y="7883800"/>
            <a:ext cx="0" cy="1377400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905000" y="8237049"/>
            <a:ext cx="0" cy="670903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667000" y="7935799"/>
            <a:ext cx="0" cy="1273402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429000" y="8089534"/>
            <a:ext cx="0" cy="965931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191000" y="8034569"/>
            <a:ext cx="0" cy="1075861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4953000" y="7973336"/>
            <a:ext cx="0" cy="1198327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5715000" y="8170182"/>
            <a:ext cx="0" cy="804636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477000" y="7900137"/>
            <a:ext cx="0" cy="1344727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239000" y="8329004"/>
            <a:ext cx="0" cy="486993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001000" y="7877293"/>
            <a:ext cx="0" cy="1390414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763000" y="8307032"/>
            <a:ext cx="0" cy="530936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525000" y="7907103"/>
            <a:ext cx="0" cy="1330794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287000" y="8150419"/>
            <a:ext cx="0" cy="844162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1049000" y="7986569"/>
            <a:ext cx="0" cy="1171862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1811000" y="8019002"/>
            <a:ext cx="0" cy="1106996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573000" y="8107703"/>
            <a:ext cx="0" cy="929595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3335000" y="7925992"/>
            <a:ext cx="0" cy="1293016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4097000" y="8258326"/>
            <a:ext cx="0" cy="628347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859000" y="7880740"/>
            <a:ext cx="0" cy="1383521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5621000" y="8378802"/>
            <a:ext cx="0" cy="387396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383000" y="7887794"/>
            <a:ext cx="0" cy="1369413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7145000" y="8216067"/>
            <a:ext cx="0" cy="712866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7907000" y="7946445"/>
            <a:ext cx="0" cy="1252110"/>
          </a:xfrm>
          <a:prstGeom prst="line">
            <a:avLst/>
          </a:prstGeom>
          <a:ln cap="rnd" w="47625">
            <a:solidFill>
              <a:srgbClr val="29C5D6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914400" y="704850"/>
            <a:ext cx="4762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29C5D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PROJECT MAP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1200150"/>
            <a:ext cx="6667500" cy="806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2"/>
              </a:lnSpc>
            </a:pPr>
            <a:r>
              <a:rPr lang="en-US" sz="58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AGENDA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43000" y="2781300"/>
            <a:ext cx="7048500" cy="331280"/>
            <a:chOff x="0" y="0"/>
            <a:chExt cx="9398000" cy="441706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730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9C5D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143000" y="-47625"/>
              <a:ext cx="8255000" cy="489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Introduction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43000" y="3771900"/>
            <a:ext cx="7048500" cy="331280"/>
            <a:chOff x="0" y="0"/>
            <a:chExt cx="9398000" cy="441706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730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9C5D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143000" y="-47625"/>
              <a:ext cx="8255000" cy="489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Problem Statement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43000" y="4762500"/>
            <a:ext cx="7048500" cy="331280"/>
            <a:chOff x="0" y="0"/>
            <a:chExt cx="9398000" cy="441706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730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9C5D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143000" y="-47625"/>
              <a:ext cx="8255000" cy="489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Objectives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43000" y="5753100"/>
            <a:ext cx="7048500" cy="331280"/>
            <a:chOff x="0" y="0"/>
            <a:chExt cx="9398000" cy="441706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0" y="730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9C5D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143000" y="-47625"/>
              <a:ext cx="8255000" cy="489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Literature Survey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43000" y="6743700"/>
            <a:ext cx="7048500" cy="331280"/>
            <a:chOff x="0" y="0"/>
            <a:chExt cx="9398000" cy="441706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730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9C5D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143000" y="-47625"/>
              <a:ext cx="8255000" cy="489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Existing vs Proposed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43000" y="7734300"/>
            <a:ext cx="7048500" cy="331280"/>
            <a:chOff x="0" y="0"/>
            <a:chExt cx="9398000" cy="441706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730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9C5D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06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143000" y="-47625"/>
              <a:ext cx="8255000" cy="489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Proposed Methodology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44000" y="2781300"/>
            <a:ext cx="7048500" cy="331280"/>
            <a:chOff x="0" y="0"/>
            <a:chExt cx="9398000" cy="441706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0" y="730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9C5D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1143000" y="-47625"/>
              <a:ext cx="8255000" cy="489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System Requirements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0" y="3771900"/>
            <a:ext cx="7048500" cy="331280"/>
            <a:chOff x="0" y="0"/>
            <a:chExt cx="9398000" cy="441706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0" y="730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9C5D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08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143000" y="-47625"/>
              <a:ext cx="8255000" cy="489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Phase 1 Results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44000" y="4762500"/>
            <a:ext cx="7048500" cy="331280"/>
            <a:chOff x="0" y="0"/>
            <a:chExt cx="9398000" cy="441706"/>
          </a:xfrm>
        </p:grpSpPr>
        <p:sp>
          <p:nvSpPr>
            <p:cNvPr name="TextBox 53" id="53"/>
            <p:cNvSpPr txBox="true"/>
            <p:nvPr/>
          </p:nvSpPr>
          <p:spPr>
            <a:xfrm rot="0">
              <a:off x="0" y="730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9C5D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09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1143000" y="-47625"/>
              <a:ext cx="8255000" cy="489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Expected Outcomes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144000" y="5753100"/>
            <a:ext cx="7048500" cy="331280"/>
            <a:chOff x="0" y="0"/>
            <a:chExt cx="9398000" cy="441706"/>
          </a:xfrm>
        </p:grpSpPr>
        <p:sp>
          <p:nvSpPr>
            <p:cNvPr name="TextBox 56" id="56"/>
            <p:cNvSpPr txBox="true"/>
            <p:nvPr/>
          </p:nvSpPr>
          <p:spPr>
            <a:xfrm rot="0">
              <a:off x="0" y="730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9C5D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1143000" y="-47625"/>
              <a:ext cx="8255000" cy="489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Future Scope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144000" y="6743700"/>
            <a:ext cx="7048500" cy="331280"/>
            <a:chOff x="0" y="0"/>
            <a:chExt cx="9398000" cy="441706"/>
          </a:xfrm>
        </p:grpSpPr>
        <p:sp>
          <p:nvSpPr>
            <p:cNvPr name="TextBox 59" id="59"/>
            <p:cNvSpPr txBox="true"/>
            <p:nvPr/>
          </p:nvSpPr>
          <p:spPr>
            <a:xfrm rot="0">
              <a:off x="0" y="730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9C5D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11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1143000" y="-47625"/>
              <a:ext cx="8255000" cy="489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References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3810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  /  CONTEXT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76325"/>
            <a:ext cx="104775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speech enhancement?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62000" y="2524125"/>
            <a:ext cx="7620000" cy="4095750"/>
            <a:chOff x="0" y="0"/>
            <a:chExt cx="10160000" cy="546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160000" cy="549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48750" y="2524125"/>
            <a:ext cx="8477250" cy="4095750"/>
            <a:chOff x="0" y="0"/>
            <a:chExt cx="11303000" cy="546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030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11303000">
                  <a:moveTo>
                    <a:pt x="0" y="0"/>
                  </a:moveTo>
                  <a:lnTo>
                    <a:pt x="11303000" y="0"/>
                  </a:lnTo>
                  <a:lnTo>
                    <a:pt x="113030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E6F2F7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303000" cy="549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47750" y="2724150"/>
            <a:ext cx="476250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100" b="true">
                <a:solidFill>
                  <a:srgbClr val="1268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BACKGROUND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750" y="3267075"/>
            <a:ext cx="6667500" cy="94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Real-world recordings carry background noise that reduces intelligibility, degrades communication quality, and weakens speech-based applications.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34500" y="2724150"/>
            <a:ext cx="476250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100" b="true">
                <a:solidFill>
                  <a:srgbClr val="1268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PROPOSED IDEA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4500" y="3267075"/>
            <a:ext cx="7143750" cy="94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Build a software DSP pipeline: inspect speech with FFT, suppress unwanted components using digital filtering, then evaluate SNR, waveform, and spectrum changes.</a:t>
            </a:r>
          </a:p>
        </p:txBody>
      </p:sp>
      <p:sp>
        <p:nvSpPr>
          <p:cNvPr name="AutoShape 14" id="14"/>
          <p:cNvSpPr/>
          <p:nvPr/>
        </p:nvSpPr>
        <p:spPr>
          <a:xfrm>
            <a:off x="381000" y="8401050"/>
            <a:ext cx="0" cy="342900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143000" y="7883800"/>
            <a:ext cx="0" cy="1377400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905000" y="8237049"/>
            <a:ext cx="0" cy="670903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2667000" y="7935799"/>
            <a:ext cx="0" cy="1273402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3429000" y="8089534"/>
            <a:ext cx="0" cy="965931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4191000" y="8034569"/>
            <a:ext cx="0" cy="1075861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4953000" y="7973336"/>
            <a:ext cx="0" cy="1198327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5715000" y="8170182"/>
            <a:ext cx="0" cy="804636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6477000" y="7900137"/>
            <a:ext cx="0" cy="1344727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7239000" y="8329004"/>
            <a:ext cx="0" cy="486993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8001000" y="7877293"/>
            <a:ext cx="0" cy="1390414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8763000" y="8307032"/>
            <a:ext cx="0" cy="530936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9525000" y="7907103"/>
            <a:ext cx="0" cy="1330794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0287000" y="8150419"/>
            <a:ext cx="0" cy="844162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1049000" y="7986569"/>
            <a:ext cx="0" cy="1171862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1811000" y="8019002"/>
            <a:ext cx="0" cy="1106996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2573000" y="8107703"/>
            <a:ext cx="0" cy="929595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3335000" y="7925992"/>
            <a:ext cx="0" cy="1293016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14097000" y="8258326"/>
            <a:ext cx="0" cy="628347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4859000" y="7880740"/>
            <a:ext cx="0" cy="1383521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5621000" y="8378802"/>
            <a:ext cx="0" cy="387396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16383000" y="7887794"/>
            <a:ext cx="0" cy="1369413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17145000" y="8216067"/>
            <a:ext cx="0" cy="712866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17907000" y="7946445"/>
            <a:ext cx="0" cy="1252110"/>
          </a:xfrm>
          <a:prstGeom prst="line">
            <a:avLst/>
          </a:prstGeom>
          <a:ln cap="rnd" w="47625">
            <a:solidFill>
              <a:srgbClr val="1268A8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1095375" y="7505700"/>
            <a:ext cx="6477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TIME DOMAIN  /  NOISY INPUT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382125" y="7505700"/>
            <a:ext cx="6667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FREQUENCY DOMAIN  /  SPECTRUM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525000" y="9239250"/>
            <a:ext cx="152400" cy="381000"/>
            <a:chOff x="0" y="0"/>
            <a:chExt cx="203200" cy="508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3200" cy="508000"/>
            </a:xfrm>
            <a:custGeom>
              <a:avLst/>
              <a:gdLst/>
              <a:ahLst/>
              <a:cxnLst/>
              <a:rect r="r" b="b" t="t" l="l"/>
              <a:pathLst>
                <a:path h="5080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032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925050" y="8282656"/>
            <a:ext cx="152400" cy="1337594"/>
            <a:chOff x="0" y="0"/>
            <a:chExt cx="203200" cy="178345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3200" cy="1783459"/>
            </a:xfrm>
            <a:custGeom>
              <a:avLst/>
              <a:gdLst/>
              <a:ahLst/>
              <a:cxnLst/>
              <a:rect r="r" b="b" t="t" l="l"/>
              <a:pathLst>
                <a:path h="1783459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1783459"/>
                  </a:lnTo>
                  <a:lnTo>
                    <a:pt x="0" y="1783459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03200" cy="1821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325100" y="7906319"/>
            <a:ext cx="152400" cy="1713931"/>
            <a:chOff x="0" y="0"/>
            <a:chExt cx="203200" cy="228524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3200" cy="2285242"/>
            </a:xfrm>
            <a:custGeom>
              <a:avLst/>
              <a:gdLst/>
              <a:ahLst/>
              <a:cxnLst/>
              <a:rect r="r" b="b" t="t" l="l"/>
              <a:pathLst>
                <a:path h="2285242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285242"/>
                  </a:lnTo>
                  <a:lnTo>
                    <a:pt x="0" y="2285242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3200" cy="2323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725150" y="8338520"/>
            <a:ext cx="152400" cy="1281730"/>
            <a:chOff x="0" y="0"/>
            <a:chExt cx="203200" cy="170897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3200" cy="1708974"/>
            </a:xfrm>
            <a:custGeom>
              <a:avLst/>
              <a:gdLst/>
              <a:ahLst/>
              <a:cxnLst/>
              <a:rect r="r" b="b" t="t" l="l"/>
              <a:pathLst>
                <a:path h="1708974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1708974"/>
                  </a:lnTo>
                  <a:lnTo>
                    <a:pt x="0" y="1708974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03200" cy="17470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25200" y="9161408"/>
            <a:ext cx="152400" cy="458842"/>
            <a:chOff x="0" y="0"/>
            <a:chExt cx="203200" cy="61178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3200" cy="611789"/>
            </a:xfrm>
            <a:custGeom>
              <a:avLst/>
              <a:gdLst/>
              <a:ahLst/>
              <a:cxnLst/>
              <a:rect r="r" b="b" t="t" l="l"/>
              <a:pathLst>
                <a:path h="611789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611789"/>
                  </a:lnTo>
                  <a:lnTo>
                    <a:pt x="0" y="611789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03200" cy="649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525250" y="8230054"/>
            <a:ext cx="152400" cy="1390196"/>
            <a:chOff x="0" y="0"/>
            <a:chExt cx="203200" cy="185359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3200" cy="1853595"/>
            </a:xfrm>
            <a:custGeom>
              <a:avLst/>
              <a:gdLst/>
              <a:ahLst/>
              <a:cxnLst/>
              <a:rect r="r" b="b" t="t" l="l"/>
              <a:pathLst>
                <a:path h="1853595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1853595"/>
                  </a:lnTo>
                  <a:lnTo>
                    <a:pt x="0" y="1853595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03200" cy="189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925300" y="7910864"/>
            <a:ext cx="152400" cy="1709386"/>
            <a:chOff x="0" y="0"/>
            <a:chExt cx="203200" cy="227918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3200" cy="2279181"/>
            </a:xfrm>
            <a:custGeom>
              <a:avLst/>
              <a:gdLst/>
              <a:ahLst/>
              <a:cxnLst/>
              <a:rect r="r" b="b" t="t" l="l"/>
              <a:pathLst>
                <a:path h="2279181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279181"/>
                  </a:lnTo>
                  <a:lnTo>
                    <a:pt x="0" y="2279181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203200" cy="2317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325350" y="8397456"/>
            <a:ext cx="152400" cy="1222794"/>
            <a:chOff x="0" y="0"/>
            <a:chExt cx="203200" cy="16303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3200" cy="1630392"/>
            </a:xfrm>
            <a:custGeom>
              <a:avLst/>
              <a:gdLst/>
              <a:ahLst/>
              <a:cxnLst/>
              <a:rect r="r" b="b" t="t" l="l"/>
              <a:pathLst>
                <a:path h="1630392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1630392"/>
                  </a:lnTo>
                  <a:lnTo>
                    <a:pt x="0" y="1630392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203200" cy="1668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725400" y="9083832"/>
            <a:ext cx="152400" cy="536418"/>
            <a:chOff x="0" y="0"/>
            <a:chExt cx="203200" cy="71522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03200" cy="715224"/>
            </a:xfrm>
            <a:custGeom>
              <a:avLst/>
              <a:gdLst/>
              <a:ahLst/>
              <a:cxnLst/>
              <a:rect r="r" b="b" t="t" l="l"/>
              <a:pathLst>
                <a:path h="715224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715224"/>
                  </a:lnTo>
                  <a:lnTo>
                    <a:pt x="0" y="715224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203200" cy="753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125450" y="8180894"/>
            <a:ext cx="152400" cy="1439356"/>
            <a:chOff x="0" y="0"/>
            <a:chExt cx="203200" cy="191914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3200" cy="1919141"/>
            </a:xfrm>
            <a:custGeom>
              <a:avLst/>
              <a:gdLst/>
              <a:ahLst/>
              <a:cxnLst/>
              <a:rect r="r" b="b" t="t" l="l"/>
              <a:pathLst>
                <a:path h="1919141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1919141"/>
                  </a:lnTo>
                  <a:lnTo>
                    <a:pt x="0" y="1919141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03200" cy="1957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525500" y="7919941"/>
            <a:ext cx="152400" cy="1700309"/>
            <a:chOff x="0" y="0"/>
            <a:chExt cx="203200" cy="226707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3200" cy="2267079"/>
            </a:xfrm>
            <a:custGeom>
              <a:avLst/>
              <a:gdLst/>
              <a:ahLst/>
              <a:cxnLst/>
              <a:rect r="r" b="b" t="t" l="l"/>
              <a:pathLst>
                <a:path h="2267079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267079"/>
                  </a:lnTo>
                  <a:lnTo>
                    <a:pt x="0" y="2267079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03200" cy="2305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925550" y="8459263"/>
            <a:ext cx="152400" cy="1160987"/>
            <a:chOff x="0" y="0"/>
            <a:chExt cx="203200" cy="154798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3200" cy="1547983"/>
            </a:xfrm>
            <a:custGeom>
              <a:avLst/>
              <a:gdLst/>
              <a:ahLst/>
              <a:cxnLst/>
              <a:rect r="r" b="b" t="t" l="l"/>
              <a:pathLst>
                <a:path h="1547983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1547983"/>
                  </a:lnTo>
                  <a:lnTo>
                    <a:pt x="0" y="1547983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203200" cy="1586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325600" y="9006785"/>
            <a:ext cx="152400" cy="613465"/>
            <a:chOff x="0" y="0"/>
            <a:chExt cx="203200" cy="81795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03200" cy="817953"/>
            </a:xfrm>
            <a:custGeom>
              <a:avLst/>
              <a:gdLst/>
              <a:ahLst/>
              <a:cxnLst/>
              <a:rect r="r" b="b" t="t" l="l"/>
              <a:pathLst>
                <a:path h="817953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817953"/>
                  </a:lnTo>
                  <a:lnTo>
                    <a:pt x="0" y="817953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03200" cy="856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725650" y="8135343"/>
            <a:ext cx="152400" cy="1484907"/>
            <a:chOff x="0" y="0"/>
            <a:chExt cx="203200" cy="197987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03200" cy="1979875"/>
            </a:xfrm>
            <a:custGeom>
              <a:avLst/>
              <a:gdLst/>
              <a:ahLst/>
              <a:cxnLst/>
              <a:rect r="r" b="b" t="t" l="l"/>
              <a:pathLst>
                <a:path h="1979875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1979875"/>
                  </a:lnTo>
                  <a:lnTo>
                    <a:pt x="0" y="1979875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203200" cy="2017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5125700" y="7933516"/>
            <a:ext cx="152400" cy="1686734"/>
            <a:chOff x="0" y="0"/>
            <a:chExt cx="203200" cy="22489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03200" cy="2248978"/>
            </a:xfrm>
            <a:custGeom>
              <a:avLst/>
              <a:gdLst/>
              <a:ahLst/>
              <a:cxnLst/>
              <a:rect r="r" b="b" t="t" l="l"/>
              <a:pathLst>
                <a:path h="2248978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248978"/>
                  </a:lnTo>
                  <a:lnTo>
                    <a:pt x="0" y="2248978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03200" cy="2287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5525750" y="8523730"/>
            <a:ext cx="152400" cy="1096520"/>
            <a:chOff x="0" y="0"/>
            <a:chExt cx="203200" cy="146202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03200" cy="1462027"/>
            </a:xfrm>
            <a:custGeom>
              <a:avLst/>
              <a:gdLst/>
              <a:ahLst/>
              <a:cxnLst/>
              <a:rect r="r" b="b" t="t" l="l"/>
              <a:pathLst>
                <a:path h="1462027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1462027"/>
                  </a:lnTo>
                  <a:lnTo>
                    <a:pt x="0" y="1462027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203200" cy="1500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925800" y="8930532"/>
            <a:ext cx="152400" cy="689718"/>
            <a:chOff x="0" y="0"/>
            <a:chExt cx="203200" cy="91962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03200" cy="919624"/>
            </a:xfrm>
            <a:custGeom>
              <a:avLst/>
              <a:gdLst/>
              <a:ahLst/>
              <a:cxnLst/>
              <a:rect r="r" b="b" t="t" l="l"/>
              <a:pathLst>
                <a:path h="919624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919624"/>
                  </a:lnTo>
                  <a:lnTo>
                    <a:pt x="0" y="919624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203200" cy="957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6325850" y="8093558"/>
            <a:ext cx="152400" cy="1526692"/>
            <a:chOff x="0" y="0"/>
            <a:chExt cx="203200" cy="203559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03200" cy="2035590"/>
            </a:xfrm>
            <a:custGeom>
              <a:avLst/>
              <a:gdLst/>
              <a:ahLst/>
              <a:cxnLst/>
              <a:rect r="r" b="b" t="t" l="l"/>
              <a:pathLst>
                <a:path h="203559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5590"/>
                  </a:lnTo>
                  <a:lnTo>
                    <a:pt x="0" y="2035590"/>
                  </a:lnTo>
                  <a:close/>
                </a:path>
              </a:pathLst>
            </a:custGeom>
            <a:solidFill>
              <a:srgbClr val="29C5D6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203200" cy="2073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1000" y="5162550"/>
            <a:ext cx="0" cy="342900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00" y="4645300"/>
            <a:ext cx="0" cy="1377400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905000" y="4998549"/>
            <a:ext cx="0" cy="670903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667000" y="4697299"/>
            <a:ext cx="0" cy="1273402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429000" y="4851034"/>
            <a:ext cx="0" cy="965931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191000" y="4796069"/>
            <a:ext cx="0" cy="1075861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4953000" y="4734836"/>
            <a:ext cx="0" cy="1198327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5715000" y="4931682"/>
            <a:ext cx="0" cy="804636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477000" y="4661637"/>
            <a:ext cx="0" cy="1344727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239000" y="5090504"/>
            <a:ext cx="0" cy="486993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001000" y="4638793"/>
            <a:ext cx="0" cy="1390414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763000" y="5068532"/>
            <a:ext cx="0" cy="530936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525000" y="4668603"/>
            <a:ext cx="0" cy="1330794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287000" y="4911919"/>
            <a:ext cx="0" cy="844162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1049000" y="4748069"/>
            <a:ext cx="0" cy="1171862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1811000" y="4780502"/>
            <a:ext cx="0" cy="1106996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573000" y="4869203"/>
            <a:ext cx="0" cy="929595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3335000" y="4687492"/>
            <a:ext cx="0" cy="1293016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4097000" y="5019826"/>
            <a:ext cx="0" cy="628347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859000" y="4642240"/>
            <a:ext cx="0" cy="1383521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5621000" y="5140302"/>
            <a:ext cx="0" cy="387396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383000" y="4649294"/>
            <a:ext cx="0" cy="1369413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7145000" y="4977567"/>
            <a:ext cx="0" cy="712866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7907000" y="4707945"/>
            <a:ext cx="0" cy="1252110"/>
          </a:xfrm>
          <a:prstGeom prst="line">
            <a:avLst/>
          </a:prstGeom>
          <a:ln cap="rnd" w="47625">
            <a:solidFill>
              <a:srgbClr val="29C5D6">
                <a:alpha val="11765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9810750" y="6572250"/>
            <a:ext cx="6858000" cy="2333625"/>
            <a:chOff x="0" y="0"/>
            <a:chExt cx="9144000" cy="3111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0" cy="3111500"/>
            </a:xfrm>
            <a:custGeom>
              <a:avLst/>
              <a:gdLst/>
              <a:ahLst/>
              <a:cxnLst/>
              <a:rect r="r" b="b" t="t" l="l"/>
              <a:pathLst>
                <a:path h="31115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3111500"/>
                  </a:lnTo>
                  <a:lnTo>
                    <a:pt x="0" y="3111500"/>
                  </a:lnTo>
                  <a:close/>
                </a:path>
              </a:pathLst>
            </a:custGeom>
            <a:solidFill>
              <a:srgbClr val="29C5D6">
                <a:alpha val="1294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144000" cy="314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14400" y="647700"/>
            <a:ext cx="4762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29C5D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  /  PROBLEM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1314450"/>
            <a:ext cx="8572500" cy="172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5"/>
              </a:lnSpc>
            </a:pPr>
            <a:r>
              <a:rPr lang="en-US" sz="63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Noise hides what</a:t>
            </a:r>
          </a:p>
          <a:p>
            <a:pPr algn="l">
              <a:lnSpc>
                <a:spcPts val="6615"/>
              </a:lnSpc>
            </a:pPr>
            <a:r>
              <a:rPr lang="en-US" sz="63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matters in speech.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01250" y="3476625"/>
            <a:ext cx="6667500" cy="83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Speech recorded in practical environments is contaminated by unwanted background noise.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7750" y="5772150"/>
            <a:ext cx="7620000" cy="171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REDUCED CLARITY</a:t>
            </a:r>
          </a:p>
          <a:p>
            <a:pPr algn="l">
              <a:lnSpc>
                <a:spcPts val="3465"/>
              </a:lnSpc>
            </a:pPr>
            <a:r>
              <a:rPr lang="en-US" sz="2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DISTORTED SPEECH COMPONENTS</a:t>
            </a:r>
          </a:p>
          <a:p>
            <a:pPr algn="l">
              <a:lnSpc>
                <a:spcPts val="3465"/>
              </a:lnSpc>
            </a:pPr>
            <a:r>
              <a:rPr lang="en-US" sz="2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LOWER SIGNAL QUALITY</a:t>
            </a:r>
          </a:p>
          <a:p>
            <a:pPr algn="l">
              <a:lnSpc>
                <a:spcPts val="3465"/>
              </a:lnSpc>
            </a:pPr>
            <a:r>
              <a:rPr lang="en-US" sz="2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POORER APPLICATION RELIABILITY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0" y="6981825"/>
            <a:ext cx="2857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29C5D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NEED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0" y="7458075"/>
            <a:ext cx="5810250" cy="62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 reliable, measurable method to reduce noise while preserving key speech features.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4762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  / 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71575"/>
            <a:ext cx="7429500" cy="1578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2"/>
              </a:lnSpc>
            </a:pPr>
            <a:r>
              <a:rPr lang="en-US" sz="585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Preserve speech.</a:t>
            </a:r>
          </a:p>
          <a:p>
            <a:pPr algn="l">
              <a:lnSpc>
                <a:spcPts val="6142"/>
              </a:lnSpc>
            </a:pPr>
            <a:r>
              <a:rPr lang="en-US" sz="585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Remove noise.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14375" y="3190875"/>
            <a:ext cx="7429500" cy="3143250"/>
            <a:chOff x="0" y="0"/>
            <a:chExt cx="9906000" cy="419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06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E6F2F7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906000" cy="422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0125" y="3409950"/>
            <a:ext cx="4762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PRIMARY OBJECTIVE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0125" y="3914775"/>
            <a:ext cx="6572250" cy="112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55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Reduce unwanted noise while preserving important speech information.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39250" y="2124075"/>
            <a:ext cx="5715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SECONDARY OBJECTIVES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39250" y="2647950"/>
            <a:ext cx="7239000" cy="230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FFT analysis of noisy speech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Digital filter for attenuation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Original · noisy · enhanced comparison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Frequency spectra before / after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SNR calculation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Reproducible Python implementation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0125" y="7458075"/>
            <a:ext cx="3810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SUCCESS MEASURE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0125" y="7981950"/>
            <a:ext cx="657225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9A88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ΔSNR  &gt;  0 dB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6250"/>
            <a:ext cx="52387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  /  EVIDENCE BASE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876300"/>
            <a:ext cx="8572500" cy="5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9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Literature survey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1809750"/>
            <a:ext cx="16459200" cy="666750"/>
            <a:chOff x="0" y="0"/>
            <a:chExt cx="219456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889000"/>
            </a:xfrm>
            <a:custGeom>
              <a:avLst/>
              <a:gdLst/>
              <a:ahLst/>
              <a:cxnLst/>
              <a:rect r="r" b="b" t="t" l="l"/>
              <a:pathLst>
                <a:path h="889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E6F2F7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571750"/>
            <a:ext cx="16459200" cy="914400"/>
            <a:chOff x="0" y="0"/>
            <a:chExt cx="219456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3600450"/>
            <a:ext cx="16459200" cy="914400"/>
            <a:chOff x="0" y="0"/>
            <a:chExt cx="219456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5F8FC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4629150"/>
            <a:ext cx="16459200" cy="914400"/>
            <a:chOff x="0" y="0"/>
            <a:chExt cx="2194560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5657850"/>
            <a:ext cx="16459200" cy="914400"/>
            <a:chOff x="0" y="0"/>
            <a:chExt cx="2194560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5F8FC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85850" y="1981200"/>
            <a:ext cx="28384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AUTHOR / YEAR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67200" y="1981200"/>
            <a:ext cx="389572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METHOD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05825" y="1981200"/>
            <a:ext cx="437197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CONTRIBUTION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20700" y="1981200"/>
            <a:ext cx="39814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GAP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5850" y="2705100"/>
            <a:ext cx="283845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S. F. Boll, 1979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67200" y="2705100"/>
            <a:ext cx="3895725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Spectral Subtraction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05825" y="2705100"/>
            <a:ext cx="4371975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Frequency-domain suppression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20700" y="2705100"/>
            <a:ext cx="398145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Residual artifacts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5850" y="3733800"/>
            <a:ext cx="283845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Ephraim &amp; Malah, 1984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67200" y="3733800"/>
            <a:ext cx="3895725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MMSE-STSA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505825" y="3733800"/>
            <a:ext cx="4371975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Statistical enhancement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220700" y="3733800"/>
            <a:ext cx="398145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Computational complexity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85850" y="4762500"/>
            <a:ext cx="283845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Ephraim &amp; Malah, 1985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267200" y="4762500"/>
            <a:ext cx="3895725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MMSE-LSA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05825" y="4762500"/>
            <a:ext cx="4371975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Log-spectral enhancement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20700" y="4762500"/>
            <a:ext cx="398145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Statistical estimation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5850" y="5791200"/>
            <a:ext cx="283845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Scalart &amp; Vieira Filho, 1996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267200" y="5791200"/>
            <a:ext cx="3895725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A-priori SNR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05825" y="5791200"/>
            <a:ext cx="4371975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Improved frequency enhancement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220700" y="5791200"/>
            <a:ext cx="398145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Noise-estimation dependent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14400" y="7505700"/>
            <a:ext cx="2857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RESEARCH GAP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14400" y="7877175"/>
            <a:ext cx="12573000" cy="57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Effective methods often require statistical modeling or added computational complexity. Our baseline prioritizes transparency, reproducibility, and extensibility to ML.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9496425"/>
            <a:ext cx="1600200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F7185"/>
                </a:solidFill>
                <a:latin typeface="IBM Plex Sans"/>
                <a:ea typeface="IBM Plex Sans"/>
                <a:cs typeface="IBM Plex Sans"/>
                <a:sym typeface="IBM Plex Sans"/>
              </a:rPr>
              <a:t>Boll (1979), IEEE TASSP  ·  Ephraim &amp; Malah (1984; 1985), IEEE TASSP  ·  Scalart &amp; Vieira Filho (1996), ICASSP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52450"/>
            <a:ext cx="5715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  /  SYSTEM COMPARISON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76325"/>
            <a:ext cx="11430000" cy="137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basic reduction</a:t>
            </a:r>
          </a:p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a measurable pipeline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62000" y="2857500"/>
            <a:ext cx="7620000" cy="5286375"/>
            <a:chOff x="0" y="0"/>
            <a:chExt cx="10160000" cy="7048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00" cy="7048500"/>
            </a:xfrm>
            <a:custGeom>
              <a:avLst/>
              <a:gdLst/>
              <a:ahLst/>
              <a:cxnLst/>
              <a:rect r="r" b="b" t="t" l="l"/>
              <a:pathLst>
                <a:path h="70485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7048500"/>
                  </a:lnTo>
                  <a:lnTo>
                    <a:pt x="0" y="7048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160000" cy="708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48750" y="2857500"/>
            <a:ext cx="8477250" cy="5286375"/>
            <a:chOff x="0" y="0"/>
            <a:chExt cx="11303000" cy="704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03000" cy="7048500"/>
            </a:xfrm>
            <a:custGeom>
              <a:avLst/>
              <a:gdLst/>
              <a:ahLst/>
              <a:cxnLst/>
              <a:rect r="r" b="b" t="t" l="l"/>
              <a:pathLst>
                <a:path h="7048500" w="11303000">
                  <a:moveTo>
                    <a:pt x="0" y="0"/>
                  </a:moveTo>
                  <a:lnTo>
                    <a:pt x="11303000" y="0"/>
                  </a:lnTo>
                  <a:lnTo>
                    <a:pt x="11303000" y="7048500"/>
                  </a:lnTo>
                  <a:lnTo>
                    <a:pt x="0" y="7048500"/>
                  </a:lnTo>
                  <a:close/>
                </a:path>
              </a:pathLst>
            </a:custGeom>
            <a:solidFill>
              <a:srgbClr val="E6F2F7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303000" cy="708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90625" y="3105150"/>
            <a:ext cx="571500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100" b="true">
                <a:solidFill>
                  <a:srgbClr val="5F718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EXISTING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0625" y="3695700"/>
            <a:ext cx="6191250" cy="191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Conventional techniques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Limited frequency analysis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Limited quantitative evaluation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Manual / less reproducible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integrated comparison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10750" y="3105150"/>
            <a:ext cx="619125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100" b="true">
                <a:solidFill>
                  <a:srgbClr val="1268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PROPOSED SYSTEM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10750" y="3714750"/>
            <a:ext cx="6667500" cy="209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Python-based DSP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Controlled noise testing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FFT frequency analysis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6th-order Butterworth filtering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SNR + waveform + spectrum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Reproducible software workflow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8667750"/>
            <a:ext cx="16002000" cy="1000125"/>
            <a:chOff x="0" y="0"/>
            <a:chExt cx="21336000" cy="1333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1268A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336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71625" y="8934450"/>
            <a:ext cx="1514475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7"/>
              </a:lnSpc>
            </a:pPr>
            <a:r>
              <a:rPr lang="en-US" sz="1875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KEY IMPROVEMENT  ·  analysis + filtering + visualization + SNR evaluation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8150"/>
            <a:ext cx="6667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29C5D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  /  PROPOSED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876300"/>
            <a:ext cx="9525000" cy="5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Signal in. Evidence out.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14375" y="2857500"/>
            <a:ext cx="1666875" cy="1238250"/>
            <a:chOff x="0" y="0"/>
            <a:chExt cx="2222500" cy="165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25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222500">
                  <a:moveTo>
                    <a:pt x="116114" y="0"/>
                  </a:moveTo>
                  <a:lnTo>
                    <a:pt x="2106386" y="0"/>
                  </a:lnTo>
                  <a:cubicBezTo>
                    <a:pt x="2137181" y="0"/>
                    <a:pt x="2166715" y="12233"/>
                    <a:pt x="2188491" y="34009"/>
                  </a:cubicBezTo>
                  <a:cubicBezTo>
                    <a:pt x="2210267" y="55785"/>
                    <a:pt x="2222500" y="85319"/>
                    <a:pt x="2222500" y="116114"/>
                  </a:cubicBezTo>
                  <a:lnTo>
                    <a:pt x="2222500" y="1534886"/>
                  </a:lnTo>
                  <a:cubicBezTo>
                    <a:pt x="2222500" y="1565681"/>
                    <a:pt x="2210267" y="1595215"/>
                    <a:pt x="2188491" y="1616991"/>
                  </a:cubicBezTo>
                  <a:cubicBezTo>
                    <a:pt x="2166715" y="1638767"/>
                    <a:pt x="2137181" y="1651000"/>
                    <a:pt x="2106386" y="1651000"/>
                  </a:cubicBezTo>
                  <a:lnTo>
                    <a:pt x="116114" y="1651000"/>
                  </a:lnTo>
                  <a:cubicBezTo>
                    <a:pt x="85319" y="1651000"/>
                    <a:pt x="55785" y="1638767"/>
                    <a:pt x="34009" y="1616991"/>
                  </a:cubicBezTo>
                  <a:cubicBezTo>
                    <a:pt x="12233" y="1595215"/>
                    <a:pt x="0" y="1565681"/>
                    <a:pt x="0" y="1534886"/>
                  </a:cubicBezTo>
                  <a:lnTo>
                    <a:pt x="0" y="116114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4" y="0"/>
                  </a:cubicBezTo>
                  <a:close/>
                </a:path>
              </a:pathLst>
            </a:custGeom>
            <a:solidFill>
              <a:srgbClr val="1268A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225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SPEECH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INPUT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2447925" y="3476625"/>
            <a:ext cx="361950" cy="0"/>
          </a:xfrm>
          <a:prstGeom prst="line">
            <a:avLst/>
          </a:prstGeom>
          <a:ln cap="rnd" w="38100">
            <a:solidFill>
              <a:srgbClr val="29C5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2905125" y="2857500"/>
            <a:ext cx="1666875" cy="1238250"/>
            <a:chOff x="0" y="0"/>
            <a:chExt cx="2222500" cy="165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25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222500">
                  <a:moveTo>
                    <a:pt x="116114" y="0"/>
                  </a:moveTo>
                  <a:lnTo>
                    <a:pt x="2106386" y="0"/>
                  </a:lnTo>
                  <a:cubicBezTo>
                    <a:pt x="2137181" y="0"/>
                    <a:pt x="2166715" y="12233"/>
                    <a:pt x="2188491" y="34009"/>
                  </a:cubicBezTo>
                  <a:cubicBezTo>
                    <a:pt x="2210267" y="55785"/>
                    <a:pt x="2222500" y="85319"/>
                    <a:pt x="2222500" y="116114"/>
                  </a:cubicBezTo>
                  <a:lnTo>
                    <a:pt x="2222500" y="1534886"/>
                  </a:lnTo>
                  <a:cubicBezTo>
                    <a:pt x="2222500" y="1565681"/>
                    <a:pt x="2210267" y="1595215"/>
                    <a:pt x="2188491" y="1616991"/>
                  </a:cubicBezTo>
                  <a:cubicBezTo>
                    <a:pt x="2166715" y="1638767"/>
                    <a:pt x="2137181" y="1651000"/>
                    <a:pt x="2106386" y="1651000"/>
                  </a:cubicBezTo>
                  <a:lnTo>
                    <a:pt x="116114" y="1651000"/>
                  </a:lnTo>
                  <a:cubicBezTo>
                    <a:pt x="85319" y="1651000"/>
                    <a:pt x="55785" y="1638767"/>
                    <a:pt x="34009" y="1616991"/>
                  </a:cubicBezTo>
                  <a:cubicBezTo>
                    <a:pt x="12233" y="1595215"/>
                    <a:pt x="0" y="1565681"/>
                    <a:pt x="0" y="1534886"/>
                  </a:cubicBezTo>
                  <a:lnTo>
                    <a:pt x="0" y="116114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4" y="0"/>
                  </a:cubicBezTo>
                  <a:close/>
                </a:path>
              </a:pathLst>
            </a:custGeom>
            <a:solidFill>
              <a:srgbClr val="1268A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22225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PRE-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PROCESS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4638675" y="3476625"/>
            <a:ext cx="361950" cy="0"/>
          </a:xfrm>
          <a:prstGeom prst="line">
            <a:avLst/>
          </a:prstGeom>
          <a:ln cap="rnd" w="38100">
            <a:solidFill>
              <a:srgbClr val="29C5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5095875" y="2857500"/>
            <a:ext cx="1666875" cy="1238250"/>
            <a:chOff x="0" y="0"/>
            <a:chExt cx="2222500" cy="165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225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222500">
                  <a:moveTo>
                    <a:pt x="116114" y="0"/>
                  </a:moveTo>
                  <a:lnTo>
                    <a:pt x="2106386" y="0"/>
                  </a:lnTo>
                  <a:cubicBezTo>
                    <a:pt x="2137181" y="0"/>
                    <a:pt x="2166715" y="12233"/>
                    <a:pt x="2188491" y="34009"/>
                  </a:cubicBezTo>
                  <a:cubicBezTo>
                    <a:pt x="2210267" y="55785"/>
                    <a:pt x="2222500" y="85319"/>
                    <a:pt x="2222500" y="116114"/>
                  </a:cubicBezTo>
                  <a:lnTo>
                    <a:pt x="2222500" y="1534886"/>
                  </a:lnTo>
                  <a:cubicBezTo>
                    <a:pt x="2222500" y="1565681"/>
                    <a:pt x="2210267" y="1595215"/>
                    <a:pt x="2188491" y="1616991"/>
                  </a:cubicBezTo>
                  <a:cubicBezTo>
                    <a:pt x="2166715" y="1638767"/>
                    <a:pt x="2137181" y="1651000"/>
                    <a:pt x="2106386" y="1651000"/>
                  </a:cubicBezTo>
                  <a:lnTo>
                    <a:pt x="116114" y="1651000"/>
                  </a:lnTo>
                  <a:cubicBezTo>
                    <a:pt x="85319" y="1651000"/>
                    <a:pt x="55785" y="1638767"/>
                    <a:pt x="34009" y="1616991"/>
                  </a:cubicBezTo>
                  <a:cubicBezTo>
                    <a:pt x="12233" y="1595215"/>
                    <a:pt x="0" y="1565681"/>
                    <a:pt x="0" y="1534886"/>
                  </a:cubicBezTo>
                  <a:lnTo>
                    <a:pt x="0" y="116114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4" y="0"/>
                  </a:cubicBezTo>
                  <a:close/>
                </a:path>
              </a:pathLst>
            </a:custGeom>
            <a:solidFill>
              <a:srgbClr val="1268A8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22225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MONO +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NORMALIZE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6829425" y="3476625"/>
            <a:ext cx="361950" cy="0"/>
          </a:xfrm>
          <a:prstGeom prst="line">
            <a:avLst/>
          </a:prstGeom>
          <a:ln cap="rnd" w="38100">
            <a:solidFill>
              <a:srgbClr val="29C5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7286625" y="2857500"/>
            <a:ext cx="1666875" cy="1238250"/>
            <a:chOff x="0" y="0"/>
            <a:chExt cx="2222500" cy="1651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25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222500">
                  <a:moveTo>
                    <a:pt x="116114" y="0"/>
                  </a:moveTo>
                  <a:lnTo>
                    <a:pt x="2106386" y="0"/>
                  </a:lnTo>
                  <a:cubicBezTo>
                    <a:pt x="2137181" y="0"/>
                    <a:pt x="2166715" y="12233"/>
                    <a:pt x="2188491" y="34009"/>
                  </a:cubicBezTo>
                  <a:cubicBezTo>
                    <a:pt x="2210267" y="55785"/>
                    <a:pt x="2222500" y="85319"/>
                    <a:pt x="2222500" y="116114"/>
                  </a:cubicBezTo>
                  <a:lnTo>
                    <a:pt x="2222500" y="1534886"/>
                  </a:lnTo>
                  <a:cubicBezTo>
                    <a:pt x="2222500" y="1565681"/>
                    <a:pt x="2210267" y="1595215"/>
                    <a:pt x="2188491" y="1616991"/>
                  </a:cubicBezTo>
                  <a:cubicBezTo>
                    <a:pt x="2166715" y="1638767"/>
                    <a:pt x="2137181" y="1651000"/>
                    <a:pt x="2106386" y="1651000"/>
                  </a:cubicBezTo>
                  <a:lnTo>
                    <a:pt x="116114" y="1651000"/>
                  </a:lnTo>
                  <a:cubicBezTo>
                    <a:pt x="85319" y="1651000"/>
                    <a:pt x="55785" y="1638767"/>
                    <a:pt x="34009" y="1616991"/>
                  </a:cubicBezTo>
                  <a:cubicBezTo>
                    <a:pt x="12233" y="1595215"/>
                    <a:pt x="0" y="1565681"/>
                    <a:pt x="0" y="1534886"/>
                  </a:cubicBezTo>
                  <a:lnTo>
                    <a:pt x="0" y="116114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4" y="0"/>
                  </a:cubicBezTo>
                  <a:close/>
                </a:path>
              </a:pathLst>
            </a:custGeom>
            <a:solidFill>
              <a:srgbClr val="1268A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22225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ADD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NOISE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9020175" y="3476625"/>
            <a:ext cx="361950" cy="0"/>
          </a:xfrm>
          <a:prstGeom prst="line">
            <a:avLst/>
          </a:prstGeom>
          <a:ln cap="rnd" w="38100">
            <a:solidFill>
              <a:srgbClr val="29C5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9477375" y="2857500"/>
            <a:ext cx="1666875" cy="1238250"/>
            <a:chOff x="0" y="0"/>
            <a:chExt cx="2222500" cy="165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225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222500">
                  <a:moveTo>
                    <a:pt x="116114" y="0"/>
                  </a:moveTo>
                  <a:lnTo>
                    <a:pt x="2106386" y="0"/>
                  </a:lnTo>
                  <a:cubicBezTo>
                    <a:pt x="2137181" y="0"/>
                    <a:pt x="2166715" y="12233"/>
                    <a:pt x="2188491" y="34009"/>
                  </a:cubicBezTo>
                  <a:cubicBezTo>
                    <a:pt x="2210267" y="55785"/>
                    <a:pt x="2222500" y="85319"/>
                    <a:pt x="2222500" y="116114"/>
                  </a:cubicBezTo>
                  <a:lnTo>
                    <a:pt x="2222500" y="1534886"/>
                  </a:lnTo>
                  <a:cubicBezTo>
                    <a:pt x="2222500" y="1565681"/>
                    <a:pt x="2210267" y="1595215"/>
                    <a:pt x="2188491" y="1616991"/>
                  </a:cubicBezTo>
                  <a:cubicBezTo>
                    <a:pt x="2166715" y="1638767"/>
                    <a:pt x="2137181" y="1651000"/>
                    <a:pt x="2106386" y="1651000"/>
                  </a:cubicBezTo>
                  <a:lnTo>
                    <a:pt x="116114" y="1651000"/>
                  </a:lnTo>
                  <a:cubicBezTo>
                    <a:pt x="85319" y="1651000"/>
                    <a:pt x="55785" y="1638767"/>
                    <a:pt x="34009" y="1616991"/>
                  </a:cubicBezTo>
                  <a:cubicBezTo>
                    <a:pt x="12233" y="1595215"/>
                    <a:pt x="0" y="1565681"/>
                    <a:pt x="0" y="1534886"/>
                  </a:cubicBezTo>
                  <a:lnTo>
                    <a:pt x="0" y="116114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4" y="0"/>
                  </a:cubicBezTo>
                  <a:close/>
                </a:path>
              </a:pathLst>
            </a:custGeom>
            <a:solidFill>
              <a:srgbClr val="1268A8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22225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FFT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ANALYSIS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1210925" y="3476625"/>
            <a:ext cx="361950" cy="0"/>
          </a:xfrm>
          <a:prstGeom prst="line">
            <a:avLst/>
          </a:prstGeom>
          <a:ln cap="rnd" w="38100">
            <a:solidFill>
              <a:srgbClr val="29C5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1668125" y="2857500"/>
            <a:ext cx="1666875" cy="1238250"/>
            <a:chOff x="0" y="0"/>
            <a:chExt cx="2222500" cy="165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225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222500">
                  <a:moveTo>
                    <a:pt x="116114" y="0"/>
                  </a:moveTo>
                  <a:lnTo>
                    <a:pt x="2106386" y="0"/>
                  </a:lnTo>
                  <a:cubicBezTo>
                    <a:pt x="2137181" y="0"/>
                    <a:pt x="2166715" y="12233"/>
                    <a:pt x="2188491" y="34009"/>
                  </a:cubicBezTo>
                  <a:cubicBezTo>
                    <a:pt x="2210267" y="55785"/>
                    <a:pt x="2222500" y="85319"/>
                    <a:pt x="2222500" y="116114"/>
                  </a:cubicBezTo>
                  <a:lnTo>
                    <a:pt x="2222500" y="1534886"/>
                  </a:lnTo>
                  <a:cubicBezTo>
                    <a:pt x="2222500" y="1565681"/>
                    <a:pt x="2210267" y="1595215"/>
                    <a:pt x="2188491" y="1616991"/>
                  </a:cubicBezTo>
                  <a:cubicBezTo>
                    <a:pt x="2166715" y="1638767"/>
                    <a:pt x="2137181" y="1651000"/>
                    <a:pt x="2106386" y="1651000"/>
                  </a:cubicBezTo>
                  <a:lnTo>
                    <a:pt x="116114" y="1651000"/>
                  </a:lnTo>
                  <a:cubicBezTo>
                    <a:pt x="85319" y="1651000"/>
                    <a:pt x="55785" y="1638767"/>
                    <a:pt x="34009" y="1616991"/>
                  </a:cubicBezTo>
                  <a:cubicBezTo>
                    <a:pt x="12233" y="1595215"/>
                    <a:pt x="0" y="1565681"/>
                    <a:pt x="0" y="1534886"/>
                  </a:cubicBezTo>
                  <a:lnTo>
                    <a:pt x="0" y="116114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4" y="0"/>
                  </a:cubicBezTo>
                  <a:close/>
                </a:path>
              </a:pathLst>
            </a:custGeom>
            <a:solidFill>
              <a:srgbClr val="29C5D6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22225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BUTTERWORTH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LPF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401675" y="3476625"/>
            <a:ext cx="361950" cy="0"/>
          </a:xfrm>
          <a:prstGeom prst="line">
            <a:avLst/>
          </a:prstGeom>
          <a:ln cap="rnd" w="38100">
            <a:solidFill>
              <a:srgbClr val="29C5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858875" y="2857500"/>
            <a:ext cx="1666875" cy="1238250"/>
            <a:chOff x="0" y="0"/>
            <a:chExt cx="2222500" cy="165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225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222500">
                  <a:moveTo>
                    <a:pt x="116114" y="0"/>
                  </a:moveTo>
                  <a:lnTo>
                    <a:pt x="2106386" y="0"/>
                  </a:lnTo>
                  <a:cubicBezTo>
                    <a:pt x="2137181" y="0"/>
                    <a:pt x="2166715" y="12233"/>
                    <a:pt x="2188491" y="34009"/>
                  </a:cubicBezTo>
                  <a:cubicBezTo>
                    <a:pt x="2210267" y="55785"/>
                    <a:pt x="2222500" y="85319"/>
                    <a:pt x="2222500" y="116114"/>
                  </a:cubicBezTo>
                  <a:lnTo>
                    <a:pt x="2222500" y="1534886"/>
                  </a:lnTo>
                  <a:cubicBezTo>
                    <a:pt x="2222500" y="1565681"/>
                    <a:pt x="2210267" y="1595215"/>
                    <a:pt x="2188491" y="1616991"/>
                  </a:cubicBezTo>
                  <a:cubicBezTo>
                    <a:pt x="2166715" y="1638767"/>
                    <a:pt x="2137181" y="1651000"/>
                    <a:pt x="2106386" y="1651000"/>
                  </a:cubicBezTo>
                  <a:lnTo>
                    <a:pt x="116114" y="1651000"/>
                  </a:lnTo>
                  <a:cubicBezTo>
                    <a:pt x="85319" y="1651000"/>
                    <a:pt x="55785" y="1638767"/>
                    <a:pt x="34009" y="1616991"/>
                  </a:cubicBezTo>
                  <a:cubicBezTo>
                    <a:pt x="12233" y="1595215"/>
                    <a:pt x="0" y="1565681"/>
                    <a:pt x="0" y="1534886"/>
                  </a:cubicBezTo>
                  <a:lnTo>
                    <a:pt x="0" y="116114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4" y="0"/>
                  </a:cubicBezTo>
                  <a:close/>
                </a:path>
              </a:pathLst>
            </a:custGeom>
            <a:solidFill>
              <a:srgbClr val="1268A8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22225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ENHANCED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SPEECH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5592425" y="3476625"/>
            <a:ext cx="361950" cy="0"/>
          </a:xfrm>
          <a:prstGeom prst="line">
            <a:avLst/>
          </a:prstGeom>
          <a:ln cap="rnd" w="38100">
            <a:solidFill>
              <a:srgbClr val="29C5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6049625" y="2857500"/>
            <a:ext cx="1666875" cy="1238250"/>
            <a:chOff x="0" y="0"/>
            <a:chExt cx="2222500" cy="1651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225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222500">
                  <a:moveTo>
                    <a:pt x="116114" y="0"/>
                  </a:moveTo>
                  <a:lnTo>
                    <a:pt x="2106386" y="0"/>
                  </a:lnTo>
                  <a:cubicBezTo>
                    <a:pt x="2137181" y="0"/>
                    <a:pt x="2166715" y="12233"/>
                    <a:pt x="2188491" y="34009"/>
                  </a:cubicBezTo>
                  <a:cubicBezTo>
                    <a:pt x="2210267" y="55785"/>
                    <a:pt x="2222500" y="85319"/>
                    <a:pt x="2222500" y="116114"/>
                  </a:cubicBezTo>
                  <a:lnTo>
                    <a:pt x="2222500" y="1534886"/>
                  </a:lnTo>
                  <a:cubicBezTo>
                    <a:pt x="2222500" y="1565681"/>
                    <a:pt x="2210267" y="1595215"/>
                    <a:pt x="2188491" y="1616991"/>
                  </a:cubicBezTo>
                  <a:cubicBezTo>
                    <a:pt x="2166715" y="1638767"/>
                    <a:pt x="2137181" y="1651000"/>
                    <a:pt x="2106386" y="1651000"/>
                  </a:cubicBezTo>
                  <a:lnTo>
                    <a:pt x="116114" y="1651000"/>
                  </a:lnTo>
                  <a:cubicBezTo>
                    <a:pt x="85319" y="1651000"/>
                    <a:pt x="55785" y="1638767"/>
                    <a:pt x="34009" y="1616991"/>
                  </a:cubicBezTo>
                  <a:cubicBezTo>
                    <a:pt x="12233" y="1595215"/>
                    <a:pt x="0" y="1565681"/>
                    <a:pt x="0" y="1534886"/>
                  </a:cubicBezTo>
                  <a:lnTo>
                    <a:pt x="0" y="116114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4" y="0"/>
                  </a:cubicBezTo>
                  <a:close/>
                </a:path>
              </a:pathLst>
            </a:custGeom>
            <a:solidFill>
              <a:srgbClr val="1268A8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22225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SNR +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COMPARE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4875" y="5143500"/>
            <a:ext cx="16478250" cy="28575"/>
            <a:chOff x="0" y="0"/>
            <a:chExt cx="21971000" cy="381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71000" cy="38100"/>
            </a:xfrm>
            <a:custGeom>
              <a:avLst/>
              <a:gdLst/>
              <a:ahLst/>
              <a:cxnLst/>
              <a:rect r="r" b="b" t="t" l="l"/>
              <a:pathLst>
                <a:path h="38100" w="21971000">
                  <a:moveTo>
                    <a:pt x="0" y="0"/>
                  </a:moveTo>
                  <a:lnTo>
                    <a:pt x="21971000" y="0"/>
                  </a:lnTo>
                  <a:lnTo>
                    <a:pt x="21971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9C5D6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71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00125" y="6915150"/>
            <a:ext cx="10287000" cy="169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  Read WAV  ·  mono + normalize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  Add Gaussian white noise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 FFT frequency analysis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  6th-order Butterworth LPF @ 4 kHz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5  SNR + waveform + spectrum comparison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763500" y="8267700"/>
            <a:ext cx="4095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b="true" sz="1125" spc="135">
                <a:solidFill>
                  <a:srgbClr val="29C5D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SOFTWARE-ONLY  /  REPRODUCIBLE BASELINE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52450"/>
            <a:ext cx="6191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  /  SYSTEM REQUIREMENTS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23950"/>
            <a:ext cx="8572500" cy="806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2"/>
              </a:lnSpc>
            </a:pPr>
            <a:r>
              <a:rPr lang="en-US" sz="585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Lean by design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2762250"/>
            <a:ext cx="5619750" cy="5429250"/>
            <a:chOff x="0" y="0"/>
            <a:chExt cx="7493000" cy="723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930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7493000">
                  <a:moveTo>
                    <a:pt x="0" y="0"/>
                  </a:moveTo>
                  <a:lnTo>
                    <a:pt x="7493000" y="0"/>
                  </a:lnTo>
                  <a:lnTo>
                    <a:pt x="74930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493000" cy="727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0" y="2762250"/>
            <a:ext cx="5619750" cy="5429250"/>
            <a:chOff x="0" y="0"/>
            <a:chExt cx="7493000" cy="723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930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7493000">
                  <a:moveTo>
                    <a:pt x="0" y="0"/>
                  </a:moveTo>
                  <a:lnTo>
                    <a:pt x="7493000" y="0"/>
                  </a:lnTo>
                  <a:lnTo>
                    <a:pt x="74930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E6F2F7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493000" cy="727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58750" y="2762250"/>
            <a:ext cx="4572000" cy="5429250"/>
            <a:chOff x="0" y="0"/>
            <a:chExt cx="6096000" cy="723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096000" cy="727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38250" y="3057525"/>
            <a:ext cx="476250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100" b="true">
                <a:solidFill>
                  <a:srgbClr val="1268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SOFTWARE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8250" y="3648075"/>
            <a:ext cx="5715000" cy="187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Python 3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NumPy · SciPy · Matplotlib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Windows / Linux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Terminal or Python environment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WAV audio input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39000" y="3057525"/>
            <a:ext cx="476250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100" b="true">
                <a:solidFill>
                  <a:srgbClr val="1268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HARDWARE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39000" y="3648075"/>
            <a:ext cx="5334000" cy="149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Modern x86-64 processor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Minimum 4 GB RAM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≈ 1 GB+ storage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dedicated DSP hardware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39750" y="3057525"/>
            <a:ext cx="381000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100" b="true">
                <a:solidFill>
                  <a:srgbClr val="1268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39750" y="3981450"/>
            <a:ext cx="381000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9A88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100%</a:t>
            </a:r>
          </a:p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9A88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SOFTWARE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04825"/>
            <a:ext cx="5715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  /  PHASE 1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28700"/>
            <a:ext cx="8572500" cy="137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Filtering delivers a</a:t>
            </a:r>
          </a:p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measurable gain.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3648075"/>
            <a:ext cx="2381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BEFORE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4124325"/>
            <a:ext cx="409575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8.18 dB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5457825"/>
            <a:ext cx="2381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9A88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AFTER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5934075"/>
            <a:ext cx="4762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9A88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14.86 dB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62000" y="7620000"/>
            <a:ext cx="6191250" cy="1809750"/>
            <a:chOff x="0" y="0"/>
            <a:chExt cx="8255000" cy="241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5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8255000">
                  <a:moveTo>
                    <a:pt x="0" y="0"/>
                  </a:moveTo>
                  <a:lnTo>
                    <a:pt x="8255000" y="0"/>
                  </a:lnTo>
                  <a:lnTo>
                    <a:pt x="8255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1268A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55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95375" y="7943850"/>
            <a:ext cx="4953000" cy="775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5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+6.69 dB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8696325"/>
            <a:ext cx="3810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SNR IMPROVEMENT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06000" y="2028825"/>
            <a:ext cx="4762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BASELINE EXPERIMENT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06000" y="2409825"/>
            <a:ext cx="6858000" cy="62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Speech WAV  ·  Gaussian white noise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6th-order Butterworth LPF  ·  4 kHz cutoff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715500" y="6238875"/>
            <a:ext cx="114300" cy="333375"/>
            <a:chOff x="0" y="0"/>
            <a:chExt cx="152400" cy="444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400" cy="444500"/>
            </a:xfrm>
            <a:custGeom>
              <a:avLst/>
              <a:gdLst/>
              <a:ahLst/>
              <a:cxnLst/>
              <a:rect r="r" b="b" t="t" l="l"/>
              <a:pathLst>
                <a:path h="4445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444500"/>
                  </a:lnTo>
                  <a:lnTo>
                    <a:pt x="0" y="444500"/>
                  </a:lnTo>
                  <a:close/>
                </a:path>
              </a:pathLst>
            </a:custGeom>
            <a:solidFill>
              <a:srgbClr val="CED9E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2400" cy="48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20300" y="4872957"/>
            <a:ext cx="114300" cy="1699293"/>
            <a:chOff x="0" y="0"/>
            <a:chExt cx="152400" cy="22657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400" cy="2265724"/>
            </a:xfrm>
            <a:custGeom>
              <a:avLst/>
              <a:gdLst/>
              <a:ahLst/>
              <a:cxnLst/>
              <a:rect r="r" b="b" t="t" l="l"/>
              <a:pathLst>
                <a:path h="2265724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265724"/>
                  </a:lnTo>
                  <a:lnTo>
                    <a:pt x="0" y="2265724"/>
                  </a:lnTo>
                  <a:close/>
                </a:path>
              </a:pathLst>
            </a:custGeom>
            <a:solidFill>
              <a:srgbClr val="CED9E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2400" cy="2303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325100" y="4167155"/>
            <a:ext cx="114300" cy="2405095"/>
            <a:chOff x="0" y="0"/>
            <a:chExt cx="152400" cy="32067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3206793"/>
            </a:xfrm>
            <a:custGeom>
              <a:avLst/>
              <a:gdLst/>
              <a:ahLst/>
              <a:cxnLst/>
              <a:rect r="r" b="b" t="t" l="l"/>
              <a:pathLst>
                <a:path h="3206793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206793"/>
                  </a:lnTo>
                  <a:lnTo>
                    <a:pt x="0" y="3206793"/>
                  </a:lnTo>
                  <a:close/>
                </a:path>
              </a:pathLst>
            </a:custGeom>
            <a:solidFill>
              <a:srgbClr val="CED9E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2400" cy="3244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629900" y="4462566"/>
            <a:ext cx="114300" cy="2109684"/>
            <a:chOff x="0" y="0"/>
            <a:chExt cx="152400" cy="28129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" cy="2812912"/>
            </a:xfrm>
            <a:custGeom>
              <a:avLst/>
              <a:gdLst/>
              <a:ahLst/>
              <a:cxnLst/>
              <a:rect r="r" b="b" t="t" l="l"/>
              <a:pathLst>
                <a:path h="2812912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812912"/>
                  </a:lnTo>
                  <a:lnTo>
                    <a:pt x="0" y="2812912"/>
                  </a:lnTo>
                  <a:close/>
                </a:path>
              </a:pathLst>
            </a:custGeom>
            <a:solidFill>
              <a:srgbClr val="CED9E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2400" cy="2851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934700" y="5616425"/>
            <a:ext cx="114300" cy="955825"/>
            <a:chOff x="0" y="0"/>
            <a:chExt cx="152400" cy="12744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400" cy="1274434"/>
            </a:xfrm>
            <a:custGeom>
              <a:avLst/>
              <a:gdLst/>
              <a:ahLst/>
              <a:cxnLst/>
              <a:rect r="r" b="b" t="t" l="l"/>
              <a:pathLst>
                <a:path h="1274434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274434"/>
                  </a:lnTo>
                  <a:lnTo>
                    <a:pt x="0" y="1274434"/>
                  </a:lnTo>
                  <a:close/>
                </a:path>
              </a:pathLst>
            </a:custGeom>
            <a:solidFill>
              <a:srgbClr val="CED9E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52400" cy="1312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239500" y="5406651"/>
            <a:ext cx="114300" cy="1165599"/>
            <a:chOff x="0" y="0"/>
            <a:chExt cx="152400" cy="15541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2400" cy="1554132"/>
            </a:xfrm>
            <a:custGeom>
              <a:avLst/>
              <a:gdLst/>
              <a:ahLst/>
              <a:cxnLst/>
              <a:rect r="r" b="b" t="t" l="l"/>
              <a:pathLst>
                <a:path h="1554132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54132"/>
                  </a:lnTo>
                  <a:lnTo>
                    <a:pt x="0" y="1554132"/>
                  </a:lnTo>
                  <a:close/>
                </a:path>
              </a:pathLst>
            </a:custGeom>
            <a:solidFill>
              <a:srgbClr val="CED9E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52400" cy="1592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544300" y="4354171"/>
            <a:ext cx="114300" cy="2218079"/>
            <a:chOff x="0" y="0"/>
            <a:chExt cx="152400" cy="29574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2400" cy="2957439"/>
            </a:xfrm>
            <a:custGeom>
              <a:avLst/>
              <a:gdLst/>
              <a:ahLst/>
              <a:cxnLst/>
              <a:rect r="r" b="b" t="t" l="l"/>
              <a:pathLst>
                <a:path h="2957439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957439"/>
                  </a:lnTo>
                  <a:lnTo>
                    <a:pt x="0" y="2957439"/>
                  </a:lnTo>
                  <a:close/>
                </a:path>
              </a:pathLst>
            </a:custGeom>
            <a:solidFill>
              <a:srgbClr val="CED9E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52400" cy="299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49100" y="4212524"/>
            <a:ext cx="114300" cy="2359726"/>
            <a:chOff x="0" y="0"/>
            <a:chExt cx="152400" cy="314630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2400" cy="3146302"/>
            </a:xfrm>
            <a:custGeom>
              <a:avLst/>
              <a:gdLst/>
              <a:ahLst/>
              <a:cxnLst/>
              <a:rect r="r" b="b" t="t" l="l"/>
              <a:pathLst>
                <a:path h="3146302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146302"/>
                  </a:lnTo>
                  <a:lnTo>
                    <a:pt x="0" y="3146302"/>
                  </a:lnTo>
                  <a:close/>
                </a:path>
              </a:pathLst>
            </a:custGeom>
            <a:solidFill>
              <a:srgbClr val="CED9E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52400" cy="318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153900" y="5050164"/>
            <a:ext cx="114300" cy="1522086"/>
            <a:chOff x="0" y="0"/>
            <a:chExt cx="152400" cy="20294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2400" cy="2029448"/>
            </a:xfrm>
            <a:custGeom>
              <a:avLst/>
              <a:gdLst/>
              <a:ahLst/>
              <a:cxnLst/>
              <a:rect r="r" b="b" t="t" l="l"/>
              <a:pathLst>
                <a:path h="2029448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29448"/>
                  </a:lnTo>
                  <a:lnTo>
                    <a:pt x="0" y="2029448"/>
                  </a:lnTo>
                  <a:close/>
                </a:path>
              </a:pathLst>
            </a:custGeom>
            <a:solidFill>
              <a:srgbClr val="CED9E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52400" cy="2067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458700" y="6015470"/>
            <a:ext cx="114300" cy="556780"/>
            <a:chOff x="0" y="0"/>
            <a:chExt cx="152400" cy="74237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2400" cy="742373"/>
            </a:xfrm>
            <a:custGeom>
              <a:avLst/>
              <a:gdLst/>
              <a:ahLst/>
              <a:cxnLst/>
              <a:rect r="r" b="b" t="t" l="l"/>
              <a:pathLst>
                <a:path h="742373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42373"/>
                  </a:lnTo>
                  <a:lnTo>
                    <a:pt x="0" y="742373"/>
                  </a:lnTo>
                  <a:close/>
                </a:path>
              </a:pathLst>
            </a:custGeom>
            <a:solidFill>
              <a:srgbClr val="CED9E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52400" cy="780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763500" y="4711320"/>
            <a:ext cx="114300" cy="1860930"/>
            <a:chOff x="0" y="0"/>
            <a:chExt cx="152400" cy="248123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2400" cy="2481239"/>
            </a:xfrm>
            <a:custGeom>
              <a:avLst/>
              <a:gdLst/>
              <a:ahLst/>
              <a:cxnLst/>
              <a:rect r="r" b="b" t="t" l="l"/>
              <a:pathLst>
                <a:path h="2481239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81239"/>
                  </a:lnTo>
                  <a:lnTo>
                    <a:pt x="0" y="2481239"/>
                  </a:lnTo>
                  <a:close/>
                </a:path>
              </a:pathLst>
            </a:custGeom>
            <a:solidFill>
              <a:srgbClr val="29C5D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52400" cy="2519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068300" y="4145401"/>
            <a:ext cx="114300" cy="2426849"/>
            <a:chOff x="0" y="0"/>
            <a:chExt cx="152400" cy="323579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2400" cy="3235798"/>
            </a:xfrm>
            <a:custGeom>
              <a:avLst/>
              <a:gdLst/>
              <a:ahLst/>
              <a:cxnLst/>
              <a:rect r="r" b="b" t="t" l="l"/>
              <a:pathLst>
                <a:path h="3235798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235798"/>
                  </a:lnTo>
                  <a:lnTo>
                    <a:pt x="0" y="3235798"/>
                  </a:lnTo>
                  <a:close/>
                </a:path>
              </a:pathLst>
            </a:custGeom>
            <a:solidFill>
              <a:srgbClr val="29C5D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52400" cy="3273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373100" y="4591209"/>
            <a:ext cx="114300" cy="1981041"/>
            <a:chOff x="0" y="0"/>
            <a:chExt cx="152400" cy="264138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2400" cy="2641389"/>
            </a:xfrm>
            <a:custGeom>
              <a:avLst/>
              <a:gdLst/>
              <a:ahLst/>
              <a:cxnLst/>
              <a:rect r="r" b="b" t="t" l="l"/>
              <a:pathLst>
                <a:path h="2641389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641389"/>
                  </a:lnTo>
                  <a:lnTo>
                    <a:pt x="0" y="2641389"/>
                  </a:lnTo>
                  <a:close/>
                </a:path>
              </a:pathLst>
            </a:custGeom>
            <a:solidFill>
              <a:srgbClr val="29C5D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52400" cy="2679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677900" y="5833294"/>
            <a:ext cx="114300" cy="738956"/>
            <a:chOff x="0" y="0"/>
            <a:chExt cx="152400" cy="985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2400" cy="985275"/>
            </a:xfrm>
            <a:custGeom>
              <a:avLst/>
              <a:gdLst/>
              <a:ahLst/>
              <a:cxnLst/>
              <a:rect r="r" b="b" t="t" l="l"/>
              <a:pathLst>
                <a:path h="985275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985275"/>
                  </a:lnTo>
                  <a:lnTo>
                    <a:pt x="0" y="985275"/>
                  </a:lnTo>
                  <a:close/>
                </a:path>
              </a:pathLst>
            </a:custGeom>
            <a:solidFill>
              <a:srgbClr val="29C5D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52400" cy="102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982700" y="5206363"/>
            <a:ext cx="114300" cy="1365887"/>
            <a:chOff x="0" y="0"/>
            <a:chExt cx="152400" cy="182118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2400" cy="1821182"/>
            </a:xfrm>
            <a:custGeom>
              <a:avLst/>
              <a:gdLst/>
              <a:ahLst/>
              <a:cxnLst/>
              <a:rect r="r" b="b" t="t" l="l"/>
              <a:pathLst>
                <a:path h="1821182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821182"/>
                  </a:lnTo>
                  <a:lnTo>
                    <a:pt x="0" y="1821182"/>
                  </a:lnTo>
                  <a:close/>
                </a:path>
              </a:pathLst>
            </a:custGeom>
            <a:solidFill>
              <a:srgbClr val="29C5D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52400" cy="1859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287500" y="4267259"/>
            <a:ext cx="114300" cy="2304991"/>
            <a:chOff x="0" y="0"/>
            <a:chExt cx="152400" cy="307332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2400" cy="3073322"/>
            </a:xfrm>
            <a:custGeom>
              <a:avLst/>
              <a:gdLst/>
              <a:ahLst/>
              <a:cxnLst/>
              <a:rect r="r" b="b" t="t" l="l"/>
              <a:pathLst>
                <a:path h="3073322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073322"/>
                  </a:lnTo>
                  <a:lnTo>
                    <a:pt x="0" y="3073322"/>
                  </a:lnTo>
                  <a:close/>
                </a:path>
              </a:pathLst>
            </a:custGeom>
            <a:solidFill>
              <a:srgbClr val="29C5D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52400" cy="3111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592300" y="4280989"/>
            <a:ext cx="114300" cy="2291261"/>
            <a:chOff x="0" y="0"/>
            <a:chExt cx="152400" cy="305501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52400" cy="3055014"/>
            </a:xfrm>
            <a:custGeom>
              <a:avLst/>
              <a:gdLst/>
              <a:ahLst/>
              <a:cxnLst/>
              <a:rect r="r" b="b" t="t" l="l"/>
              <a:pathLst>
                <a:path h="3055014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055014"/>
                  </a:lnTo>
                  <a:lnTo>
                    <a:pt x="0" y="3055014"/>
                  </a:lnTo>
                  <a:close/>
                </a:path>
              </a:pathLst>
            </a:custGeom>
            <a:solidFill>
              <a:srgbClr val="29C5D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52400" cy="3093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897100" y="5240920"/>
            <a:ext cx="114300" cy="1331330"/>
            <a:chOff x="0" y="0"/>
            <a:chExt cx="152400" cy="177510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52400" cy="1775107"/>
            </a:xfrm>
            <a:custGeom>
              <a:avLst/>
              <a:gdLst/>
              <a:ahLst/>
              <a:cxnLst/>
              <a:rect r="r" b="b" t="t" l="l"/>
              <a:pathLst>
                <a:path h="1775107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775107"/>
                  </a:lnTo>
                  <a:lnTo>
                    <a:pt x="0" y="1775107"/>
                  </a:lnTo>
                  <a:close/>
                </a:path>
              </a:pathLst>
            </a:custGeom>
            <a:solidFill>
              <a:srgbClr val="29C5D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52400" cy="1813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5201900" y="5794612"/>
            <a:ext cx="114300" cy="777638"/>
            <a:chOff x="0" y="0"/>
            <a:chExt cx="152400" cy="103685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52400" cy="1036851"/>
            </a:xfrm>
            <a:custGeom>
              <a:avLst/>
              <a:gdLst/>
              <a:ahLst/>
              <a:cxnLst/>
              <a:rect r="r" b="b" t="t" l="l"/>
              <a:pathLst>
                <a:path h="1036851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036851"/>
                  </a:lnTo>
                  <a:lnTo>
                    <a:pt x="0" y="1036851"/>
                  </a:lnTo>
                  <a:close/>
                </a:path>
              </a:pathLst>
            </a:custGeom>
            <a:solidFill>
              <a:srgbClr val="29C5D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52400" cy="1074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5506700" y="4567095"/>
            <a:ext cx="114300" cy="2005155"/>
            <a:chOff x="0" y="0"/>
            <a:chExt cx="152400" cy="26735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52400" cy="2673540"/>
            </a:xfrm>
            <a:custGeom>
              <a:avLst/>
              <a:gdLst/>
              <a:ahLst/>
              <a:cxnLst/>
              <a:rect r="r" b="b" t="t" l="l"/>
              <a:pathLst>
                <a:path h="267354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673540"/>
                  </a:lnTo>
                  <a:lnTo>
                    <a:pt x="0" y="2673540"/>
                  </a:lnTo>
                  <a:close/>
                </a:path>
              </a:pathLst>
            </a:custGeom>
            <a:solidFill>
              <a:srgbClr val="29C5D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52400" cy="2711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811500" y="4147510"/>
            <a:ext cx="114300" cy="2424740"/>
            <a:chOff x="0" y="0"/>
            <a:chExt cx="152400" cy="323298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52400" cy="3232986"/>
            </a:xfrm>
            <a:custGeom>
              <a:avLst/>
              <a:gdLst/>
              <a:ahLst/>
              <a:cxnLst/>
              <a:rect r="r" b="b" t="t" l="l"/>
              <a:pathLst>
                <a:path h="3232986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232986"/>
                  </a:lnTo>
                  <a:lnTo>
                    <a:pt x="0" y="3232986"/>
                  </a:lnTo>
                  <a:close/>
                </a:path>
              </a:pathLst>
            </a:custGeom>
            <a:solidFill>
              <a:srgbClr val="29C5D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52400" cy="3271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6116300" y="4738632"/>
            <a:ext cx="114300" cy="1833618"/>
            <a:chOff x="0" y="0"/>
            <a:chExt cx="152400" cy="244482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52400" cy="2444824"/>
            </a:xfrm>
            <a:custGeom>
              <a:avLst/>
              <a:gdLst/>
              <a:ahLst/>
              <a:cxnLst/>
              <a:rect r="r" b="b" t="t" l="l"/>
              <a:pathLst>
                <a:path h="2444824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44824"/>
                  </a:lnTo>
                  <a:lnTo>
                    <a:pt x="0" y="2444824"/>
                  </a:lnTo>
                  <a:close/>
                </a:path>
              </a:pathLst>
            </a:custGeom>
            <a:solidFill>
              <a:srgbClr val="29C5D6">
                <a:alpha val="8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52400" cy="2482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9906000" y="7315200"/>
            <a:ext cx="2857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268A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OUTPUTS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906000" y="7696200"/>
            <a:ext cx="6858000" cy="62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Enhanced WAV  ·  waveform comparison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10243E"/>
                </a:solidFill>
                <a:latin typeface="IBM Plex Sans"/>
                <a:ea typeface="IBM Plex Sans"/>
                <a:cs typeface="IBM Plex Sans"/>
                <a:sym typeface="IBM Plex Sans"/>
              </a:rPr>
              <a:t>frequency spectrum  ·  SNR evaluation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02192" y="6918616"/>
            <a:ext cx="15262530" cy="3471326"/>
          </a:xfrm>
          <a:custGeom>
            <a:avLst/>
            <a:gdLst/>
            <a:ahLst/>
            <a:cxnLst/>
            <a:rect r="r" b="b" t="t" l="l"/>
            <a:pathLst>
              <a:path h="3471326" w="15262530">
                <a:moveTo>
                  <a:pt x="0" y="0"/>
                </a:moveTo>
                <a:lnTo>
                  <a:pt x="15262530" y="0"/>
                </a:lnTo>
                <a:lnTo>
                  <a:pt x="15262530" y="3471327"/>
                </a:lnTo>
                <a:lnTo>
                  <a:pt x="0" y="34713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2341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9073" y="2492823"/>
            <a:ext cx="10829854" cy="3046917"/>
            <a:chOff x="0" y="0"/>
            <a:chExt cx="14439805" cy="406255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0"/>
              <a:ext cx="14439805" cy="2118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999"/>
                </a:lnSpc>
              </a:pPr>
              <a:r>
                <a:rPr lang="en-US" sz="9999" spc="-199" u="none">
                  <a:solidFill>
                    <a:srgbClr val="FFFFFF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THANK YOU!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909369" y="2887383"/>
              <a:ext cx="12621068" cy="1175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80"/>
                </a:lnSpc>
                <a:spcBef>
                  <a:spcPct val="0"/>
                </a:spcBef>
              </a:pPr>
              <a:r>
                <a:rPr lang="en-US" sz="2600" u="none">
                  <a:solidFill>
                    <a:srgbClr val="FFFFFF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Your support and kindness mean the world to us. We are truly grateful.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203886" y="6238238"/>
            <a:ext cx="13928912" cy="11320407"/>
          </a:xfrm>
          <a:custGeom>
            <a:avLst/>
            <a:gdLst/>
            <a:ahLst/>
            <a:cxnLst/>
            <a:rect r="r" b="b" t="t" l="l"/>
            <a:pathLst>
              <a:path h="11320407" w="13928912">
                <a:moveTo>
                  <a:pt x="0" y="0"/>
                </a:moveTo>
                <a:lnTo>
                  <a:pt x="13928912" y="0"/>
                </a:lnTo>
                <a:lnTo>
                  <a:pt x="13928912" y="11320407"/>
                </a:lnTo>
                <a:lnTo>
                  <a:pt x="0" y="11320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DAHUmQ__Zdk</dc:identifier>
  <dcterms:modified xsi:type="dcterms:W3CDTF">2011-08-01T06:04:30Z</dcterms:modified>
  <cp:revision>1</cp:revision>
  <dc:title>Signal Processing</dc:title>
</cp:coreProperties>
</file>