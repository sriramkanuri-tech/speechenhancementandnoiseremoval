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A8E539-EF18-4BBD-B0E4-3EBC8DDA4B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06C36C-1193-44D4-9CDF-7CFA1A1235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E41F2B-CFFF-421F-8743-DF53B35FF7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F427FD-0850-4272-888A-CD9C512B81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584FED-9F18-4BB5-9B7B-C0252C78FA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F01FAF-6F81-4113-902D-6A985181A7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A57DE2-1DB6-4E8C-8FCD-6B5ECEBD18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71CEE5-F479-45E7-8BD9-E133382AC3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A96F33-A6AB-419E-83B9-4833E74520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E55BE6-ACE0-4A36-80BA-57745E0F2A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5E2C17-50BE-40F4-AF21-34BCC581FD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731520" y="1371600"/>
            <a:ext cx="10789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SPEECH ENHANCEMENT</a:t>
            </a:r>
            <a:br>
              <a:rPr sz="3800"/>
            </a:b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AND NOISE REMOVAL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777240" y="297180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Simple DSP approach for making noisy speech clearer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77240" y="5120640"/>
            <a:ext cx="9875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BF3F8"/>
                </a:solidFill>
                <a:effectLst/>
                <a:uFillTx/>
                <a:latin typeface="Calibri"/>
              </a:rPr>
              <a:t>R. Sai Samartha Reddy  •  Sriram Kanuri  •  Rishi Vardhan</a:t>
            </a:r>
            <a:br>
              <a:rPr sz="1600"/>
            </a:br>
            <a:r>
              <a:rPr lang="en-US" sz="1600" b="0" u="none" strike="noStrike">
                <a:solidFill>
                  <a:srgbClr val="EBF3F8"/>
                </a:solidFill>
                <a:effectLst/>
                <a:uFillTx/>
                <a:latin typeface="Calibri"/>
              </a:rPr>
              <a:t>Guide: Dr. V Sahiti  |  ECE  |  KL University, Hyderabad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640080" y="41148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 Introduction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658440" y="109728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Why do we need speech enhancement?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3"/>
          <p:cNvSpPr/>
          <p:nvPr/>
        </p:nvSpPr>
        <p:spPr>
          <a:xfrm>
            <a:off x="689760" y="1508760"/>
            <a:ext cx="3382920" cy="347436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914400" y="178308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The Problem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5"/>
          <p:cNvSpPr/>
          <p:nvPr/>
        </p:nvSpPr>
        <p:spPr>
          <a:xfrm>
            <a:off x="2417040" y="1828800"/>
            <a:ext cx="1514520" cy="23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Real-world speech often contains background noise.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Examples: fan, traffic, people, machines.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6"/>
          <p:cNvSpPr/>
          <p:nvPr/>
        </p:nvSpPr>
        <p:spPr>
          <a:xfrm>
            <a:off x="4389120" y="1645920"/>
            <a:ext cx="3382920" cy="347436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7"/>
          <p:cNvSpPr/>
          <p:nvPr/>
        </p:nvSpPr>
        <p:spPr>
          <a:xfrm>
            <a:off x="4572000" y="178308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Our Idea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4572000" y="2240280"/>
            <a:ext cx="329148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Take noisy speech → analyze its frequencies → reduce unwanted components → get cleaner speech.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9"/>
          <p:cNvSpPr/>
          <p:nvPr/>
        </p:nvSpPr>
        <p:spPr>
          <a:xfrm>
            <a:off x="8046720" y="1645920"/>
            <a:ext cx="3382920" cy="347436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8229600" y="178308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Goal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1"/>
          <p:cNvSpPr/>
          <p:nvPr/>
        </p:nvSpPr>
        <p:spPr>
          <a:xfrm>
            <a:off x="8229600" y="2331720"/>
            <a:ext cx="311004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Improve speech quality while keeping the important speech information.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2"/>
          <p:cNvSpPr/>
          <p:nvPr/>
        </p:nvSpPr>
        <p:spPr>
          <a:xfrm>
            <a:off x="1088136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640080" y="41148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 Problem Statement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658440" y="109728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Noise hides the speech we want to hear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822960" y="1554480"/>
            <a:ext cx="1042380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Background noise reduces speech clarity.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Important speech components can be affected.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Overall signal quality becomes lower.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Noisy speech can reduce the reliability of speech-based applications.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We need to reduce noise without losing important speech information.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1088136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640080" y="41148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3. Objectives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658440" y="109728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What do we want our system to do?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3"/>
          <p:cNvSpPr/>
          <p:nvPr/>
        </p:nvSpPr>
        <p:spPr>
          <a:xfrm>
            <a:off x="731520" y="1554480"/>
            <a:ext cx="5303160" cy="132552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914400" y="169164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Main Objective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914400" y="214884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Remove unwanted noise while preserving useful speech.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6"/>
          <p:cNvSpPr/>
          <p:nvPr/>
        </p:nvSpPr>
        <p:spPr>
          <a:xfrm>
            <a:off x="731520" y="3154680"/>
            <a:ext cx="2559960" cy="15084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7"/>
          <p:cNvSpPr/>
          <p:nvPr/>
        </p:nvSpPr>
        <p:spPr>
          <a:xfrm>
            <a:off x="914400" y="329184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FFT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914400" y="3703320"/>
            <a:ext cx="20829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Analyze the signal in the frequency domain.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9"/>
          <p:cNvSpPr/>
          <p:nvPr/>
        </p:nvSpPr>
        <p:spPr>
          <a:xfrm>
            <a:off x="3474720" y="3154680"/>
            <a:ext cx="2559960" cy="15084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3657600" y="329184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Filter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1"/>
          <p:cNvSpPr/>
          <p:nvPr/>
        </p:nvSpPr>
        <p:spPr>
          <a:xfrm>
            <a:off x="3657600" y="3749040"/>
            <a:ext cx="209088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Attenuate unwanted frequency components.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12"/>
          <p:cNvSpPr/>
          <p:nvPr/>
        </p:nvSpPr>
        <p:spPr>
          <a:xfrm>
            <a:off x="6217920" y="3154680"/>
            <a:ext cx="2559960" cy="15084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3"/>
          <p:cNvSpPr/>
          <p:nvPr/>
        </p:nvSpPr>
        <p:spPr>
          <a:xfrm>
            <a:off x="6400800" y="329184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Compare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4"/>
          <p:cNvSpPr/>
          <p:nvPr/>
        </p:nvSpPr>
        <p:spPr>
          <a:xfrm>
            <a:off x="6400800" y="3840480"/>
            <a:ext cx="20829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Check original, noisy and enhanced speech.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15"/>
          <p:cNvSpPr/>
          <p:nvPr/>
        </p:nvSpPr>
        <p:spPr>
          <a:xfrm>
            <a:off x="8961120" y="3154680"/>
            <a:ext cx="2559960" cy="15084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16"/>
          <p:cNvSpPr/>
          <p:nvPr/>
        </p:nvSpPr>
        <p:spPr>
          <a:xfrm>
            <a:off x="9144000" y="329184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SNR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7"/>
          <p:cNvSpPr/>
          <p:nvPr/>
        </p:nvSpPr>
        <p:spPr>
          <a:xfrm>
            <a:off x="9144000" y="3749040"/>
            <a:ext cx="21333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Measure whether the signal quality improved.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8"/>
          <p:cNvSpPr/>
          <p:nvPr/>
        </p:nvSpPr>
        <p:spPr>
          <a:xfrm>
            <a:off x="1088136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640080" y="41148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4. Literature Survey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658440" y="109728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What previous researchers have done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3"/>
          <p:cNvSpPr/>
          <p:nvPr/>
        </p:nvSpPr>
        <p:spPr>
          <a:xfrm>
            <a:off x="640080" y="1417320"/>
            <a:ext cx="5394600" cy="114264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822960" y="155448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Boll (1979)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822960" y="2011680"/>
            <a:ext cx="49413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Spectral subtraction. Frequency-domain noise suppression. Can leave residual artifacts.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6"/>
          <p:cNvSpPr/>
          <p:nvPr/>
        </p:nvSpPr>
        <p:spPr>
          <a:xfrm>
            <a:off x="6172200" y="1417320"/>
            <a:ext cx="5394600" cy="114264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7"/>
          <p:cNvSpPr/>
          <p:nvPr/>
        </p:nvSpPr>
        <p:spPr>
          <a:xfrm>
            <a:off x="6355080" y="155448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Ephraim &amp; Malah (1984)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8"/>
          <p:cNvSpPr/>
          <p:nvPr/>
        </p:nvSpPr>
        <p:spPr>
          <a:xfrm>
            <a:off x="6355080" y="2103120"/>
            <a:ext cx="50137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MMSE-STSA. Statistical speech enhancement with higher computational complexity.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9"/>
          <p:cNvSpPr/>
          <p:nvPr/>
        </p:nvSpPr>
        <p:spPr>
          <a:xfrm>
            <a:off x="640080" y="2788920"/>
            <a:ext cx="5394600" cy="114264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822960" y="292608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Ephraim &amp; Malah (1985)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1"/>
          <p:cNvSpPr/>
          <p:nvPr/>
        </p:nvSpPr>
        <p:spPr>
          <a:xfrm>
            <a:off x="822960" y="338328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MMSE-LSA. Log-spectral statistical enhancement.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12"/>
          <p:cNvSpPr/>
          <p:nvPr/>
        </p:nvSpPr>
        <p:spPr>
          <a:xfrm>
            <a:off x="6172200" y="2788920"/>
            <a:ext cx="5394600" cy="114264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6355080" y="292608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Scalart &amp; Vieira Filho (1996)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4"/>
          <p:cNvSpPr/>
          <p:nvPr/>
        </p:nvSpPr>
        <p:spPr>
          <a:xfrm>
            <a:off x="6355080" y="3429000"/>
            <a:ext cx="50137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A-priori SNR based enhancement. Depends on noise estimation.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15"/>
          <p:cNvSpPr/>
          <p:nvPr/>
        </p:nvSpPr>
        <p:spPr>
          <a:xfrm>
            <a:off x="1828800" y="4343400"/>
            <a:ext cx="8503560" cy="10512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16"/>
          <p:cNvSpPr/>
          <p:nvPr/>
        </p:nvSpPr>
        <p:spPr>
          <a:xfrm>
            <a:off x="2011680" y="448056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Our Gap / Approach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7"/>
          <p:cNvSpPr/>
          <p:nvPr/>
        </p:nvSpPr>
        <p:spPr>
          <a:xfrm>
            <a:off x="2011680" y="4937760"/>
            <a:ext cx="8137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Start with a simple, transparent and reproducible DSP baseline, then extend it toward ML.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8"/>
          <p:cNvSpPr/>
          <p:nvPr/>
        </p:nvSpPr>
        <p:spPr>
          <a:xfrm>
            <a:off x="1088136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/>
          <p:nvPr/>
        </p:nvSpPr>
        <p:spPr>
          <a:xfrm>
            <a:off x="640080" y="41148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5. Existing System vs Proposed System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658440" y="109728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What is different about our approach?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3"/>
          <p:cNvSpPr/>
          <p:nvPr/>
        </p:nvSpPr>
        <p:spPr>
          <a:xfrm>
            <a:off x="731520" y="1508760"/>
            <a:ext cx="5120280" cy="384012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914400" y="164592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Existing / Conventional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5"/>
          <p:cNvSpPr/>
          <p:nvPr/>
        </p:nvSpPr>
        <p:spPr>
          <a:xfrm>
            <a:off x="914400" y="2103120"/>
            <a:ext cx="475452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Limited frequency analysis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Limited quantitative evaluation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Less reproducible workflow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No integrated analysis + visualization + measurement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6"/>
          <p:cNvSpPr/>
          <p:nvPr/>
        </p:nvSpPr>
        <p:spPr>
          <a:xfrm>
            <a:off x="6309360" y="1508760"/>
            <a:ext cx="5120280" cy="384012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7"/>
          <p:cNvSpPr/>
          <p:nvPr/>
        </p:nvSpPr>
        <p:spPr>
          <a:xfrm>
            <a:off x="6492240" y="164592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Proposed System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8"/>
          <p:cNvSpPr/>
          <p:nvPr/>
        </p:nvSpPr>
        <p:spPr>
          <a:xfrm>
            <a:off x="6492240" y="2103120"/>
            <a:ext cx="3164040" cy="17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Python-based SP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Controlled noise testing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FFT analysis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6th-order Butterworth LPF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Waveform + spectrum comparison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SNR evaluation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Reproducible workflow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9"/>
          <p:cNvSpPr/>
          <p:nvPr/>
        </p:nvSpPr>
        <p:spPr>
          <a:xfrm>
            <a:off x="1088136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640080" y="41148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6. Proposed Methodology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658440" y="109728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The complete process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3"/>
          <p:cNvSpPr/>
          <p:nvPr/>
        </p:nvSpPr>
        <p:spPr>
          <a:xfrm>
            <a:off x="502920" y="1554480"/>
            <a:ext cx="3474360" cy="17370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685800" y="169164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1. Speech WAV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685800" y="2148840"/>
            <a:ext cx="3108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Input speech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6"/>
          <p:cNvSpPr/>
          <p:nvPr/>
        </p:nvSpPr>
        <p:spPr>
          <a:xfrm>
            <a:off x="4389120" y="1554480"/>
            <a:ext cx="3474360" cy="17370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7"/>
          <p:cNvSpPr/>
          <p:nvPr/>
        </p:nvSpPr>
        <p:spPr>
          <a:xfrm>
            <a:off x="4572000" y="169164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2. Pre-process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8"/>
          <p:cNvSpPr/>
          <p:nvPr/>
        </p:nvSpPr>
        <p:spPr>
          <a:xfrm>
            <a:off x="4572000" y="2148840"/>
            <a:ext cx="3108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 + normalize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9"/>
          <p:cNvSpPr/>
          <p:nvPr/>
        </p:nvSpPr>
        <p:spPr>
          <a:xfrm>
            <a:off x="8275320" y="1554480"/>
            <a:ext cx="3474360" cy="17370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0"/>
          <p:cNvSpPr/>
          <p:nvPr/>
        </p:nvSpPr>
        <p:spPr>
          <a:xfrm>
            <a:off x="8458200" y="169164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3. Add noise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1"/>
          <p:cNvSpPr/>
          <p:nvPr/>
        </p:nvSpPr>
        <p:spPr>
          <a:xfrm>
            <a:off x="8458200" y="2148840"/>
            <a:ext cx="3108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Gaussian white noise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12"/>
          <p:cNvSpPr/>
          <p:nvPr/>
        </p:nvSpPr>
        <p:spPr>
          <a:xfrm>
            <a:off x="502920" y="3657600"/>
            <a:ext cx="3474360" cy="17370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3"/>
          <p:cNvSpPr/>
          <p:nvPr/>
        </p:nvSpPr>
        <p:spPr>
          <a:xfrm>
            <a:off x="685800" y="379476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4. FFT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4"/>
          <p:cNvSpPr/>
          <p:nvPr/>
        </p:nvSpPr>
        <p:spPr>
          <a:xfrm>
            <a:off x="685800" y="4251960"/>
            <a:ext cx="3108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See frequency components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15"/>
          <p:cNvSpPr/>
          <p:nvPr/>
        </p:nvSpPr>
        <p:spPr>
          <a:xfrm>
            <a:off x="4389120" y="3657600"/>
            <a:ext cx="3474360" cy="17370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6"/>
          <p:cNvSpPr/>
          <p:nvPr/>
        </p:nvSpPr>
        <p:spPr>
          <a:xfrm>
            <a:off x="4572000" y="379476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5. Filter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7"/>
          <p:cNvSpPr/>
          <p:nvPr/>
        </p:nvSpPr>
        <p:spPr>
          <a:xfrm>
            <a:off x="4572000" y="4251960"/>
            <a:ext cx="3108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6th-order Butterworth LPF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Cutoff = 4 kHz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18"/>
          <p:cNvSpPr/>
          <p:nvPr/>
        </p:nvSpPr>
        <p:spPr>
          <a:xfrm>
            <a:off x="8275320" y="3657600"/>
            <a:ext cx="3474360" cy="17370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19"/>
          <p:cNvSpPr/>
          <p:nvPr/>
        </p:nvSpPr>
        <p:spPr>
          <a:xfrm>
            <a:off x="8458200" y="379476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6. Evaluate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0"/>
          <p:cNvSpPr/>
          <p:nvPr/>
        </p:nvSpPr>
        <p:spPr>
          <a:xfrm>
            <a:off x="8458200" y="4251960"/>
            <a:ext cx="3108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Waveform + spectrum + SNR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1"/>
          <p:cNvSpPr/>
          <p:nvPr/>
        </p:nvSpPr>
        <p:spPr>
          <a:xfrm>
            <a:off x="1088136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"/>
          <p:cNvSpPr/>
          <p:nvPr/>
        </p:nvSpPr>
        <p:spPr>
          <a:xfrm>
            <a:off x="640080" y="41148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7. What are FFT and SNR used for?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658440" y="109728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Two different jobs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3"/>
          <p:cNvSpPr/>
          <p:nvPr/>
        </p:nvSpPr>
        <p:spPr>
          <a:xfrm>
            <a:off x="731520" y="1645920"/>
            <a:ext cx="5120280" cy="35658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4"/>
          <p:cNvSpPr/>
          <p:nvPr/>
        </p:nvSpPr>
        <p:spPr>
          <a:xfrm>
            <a:off x="914400" y="178308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FFT = Analysis 🔍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5"/>
          <p:cNvSpPr/>
          <p:nvPr/>
        </p:nvSpPr>
        <p:spPr>
          <a:xfrm>
            <a:off x="914400" y="2331720"/>
            <a:ext cx="457164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FFT changes the signal from time domain to frequency domain.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It helps us see which frequencies are present and observe the effect of filtering.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6"/>
          <p:cNvSpPr/>
          <p:nvPr/>
        </p:nvSpPr>
        <p:spPr>
          <a:xfrm>
            <a:off x="6309360" y="1645920"/>
            <a:ext cx="5120280" cy="35658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7"/>
          <p:cNvSpPr/>
          <p:nvPr/>
        </p:nvSpPr>
        <p:spPr>
          <a:xfrm>
            <a:off x="6492240" y="178308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SNR = Measurement 📊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8"/>
          <p:cNvSpPr/>
          <p:nvPr/>
        </p:nvSpPr>
        <p:spPr>
          <a:xfrm>
            <a:off x="6492240" y="2331720"/>
            <a:ext cx="468144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SNR tells us how strong the useful signal is compared with noise.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Higher SNR generally means better signal quality.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Our Phase 1 result: 8.18 dB → 14.86 dB.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9"/>
          <p:cNvSpPr/>
          <p:nvPr/>
        </p:nvSpPr>
        <p:spPr>
          <a:xfrm>
            <a:off x="1088136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"/>
          <p:cNvSpPr/>
          <p:nvPr/>
        </p:nvSpPr>
        <p:spPr>
          <a:xfrm>
            <a:off x="640080" y="41148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8. System Requirements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658440" y="109728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Software-only project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3"/>
          <p:cNvSpPr/>
          <p:nvPr/>
        </p:nvSpPr>
        <p:spPr>
          <a:xfrm>
            <a:off x="731520" y="1554480"/>
            <a:ext cx="3382920" cy="35658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914400" y="169164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Software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5"/>
          <p:cNvSpPr/>
          <p:nvPr/>
        </p:nvSpPr>
        <p:spPr>
          <a:xfrm>
            <a:off x="914400" y="2148840"/>
            <a:ext cx="30171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Python 3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NumPy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SciPy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Matplotlib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Windows / Linux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WAV audio input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6"/>
          <p:cNvSpPr/>
          <p:nvPr/>
        </p:nvSpPr>
        <p:spPr>
          <a:xfrm>
            <a:off x="4389120" y="1554480"/>
            <a:ext cx="3382920" cy="35658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7"/>
          <p:cNvSpPr/>
          <p:nvPr/>
        </p:nvSpPr>
        <p:spPr>
          <a:xfrm>
            <a:off x="4572000" y="169164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Hardware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8"/>
          <p:cNvSpPr/>
          <p:nvPr/>
        </p:nvSpPr>
        <p:spPr>
          <a:xfrm>
            <a:off x="4572000" y="2148840"/>
            <a:ext cx="30171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Modern x86-64 processor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Minimum 4 GB RAM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About 1 GB+ storage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 dedicated DSP hardware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9"/>
          <p:cNvSpPr/>
          <p:nvPr/>
        </p:nvSpPr>
        <p:spPr>
          <a:xfrm>
            <a:off x="8046720" y="1554480"/>
            <a:ext cx="3382920" cy="35658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0"/>
          <p:cNvSpPr/>
          <p:nvPr/>
        </p:nvSpPr>
        <p:spPr>
          <a:xfrm>
            <a:off x="8229600" y="169164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Implementation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1"/>
          <p:cNvSpPr/>
          <p:nvPr/>
        </p:nvSpPr>
        <p:spPr>
          <a:xfrm>
            <a:off x="8229600" y="2194560"/>
            <a:ext cx="282240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100% software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Can run from a terminal or Python environment.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Easy to reproduce.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2"/>
          <p:cNvSpPr/>
          <p:nvPr/>
        </p:nvSpPr>
        <p:spPr>
          <a:xfrm>
            <a:off x="1088136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1"/>
          <p:cNvSpPr/>
          <p:nvPr/>
        </p:nvSpPr>
        <p:spPr>
          <a:xfrm>
            <a:off x="640080" y="41148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9. Phase 1 Results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2"/>
          <p:cNvSpPr/>
          <p:nvPr/>
        </p:nvSpPr>
        <p:spPr>
          <a:xfrm>
            <a:off x="658440" y="109728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Did the filtering improve the signal?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3"/>
          <p:cNvSpPr/>
          <p:nvPr/>
        </p:nvSpPr>
        <p:spPr>
          <a:xfrm>
            <a:off x="822960" y="1554480"/>
            <a:ext cx="3200040" cy="201132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4"/>
          <p:cNvSpPr/>
          <p:nvPr/>
        </p:nvSpPr>
        <p:spPr>
          <a:xfrm>
            <a:off x="1005840" y="169164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BEFORE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5"/>
          <p:cNvSpPr/>
          <p:nvPr/>
        </p:nvSpPr>
        <p:spPr>
          <a:xfrm>
            <a:off x="1005840" y="2148840"/>
            <a:ext cx="2834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SNR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8.18 dB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6"/>
          <p:cNvSpPr/>
          <p:nvPr/>
        </p:nvSpPr>
        <p:spPr>
          <a:xfrm>
            <a:off x="4480560" y="1554480"/>
            <a:ext cx="3200040" cy="201132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7"/>
          <p:cNvSpPr/>
          <p:nvPr/>
        </p:nvSpPr>
        <p:spPr>
          <a:xfrm>
            <a:off x="4663440" y="169164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AFTER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8"/>
          <p:cNvSpPr/>
          <p:nvPr/>
        </p:nvSpPr>
        <p:spPr>
          <a:xfrm>
            <a:off x="4663440" y="2148840"/>
            <a:ext cx="2834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SNR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14.86 dB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9"/>
          <p:cNvSpPr/>
          <p:nvPr/>
        </p:nvSpPr>
        <p:spPr>
          <a:xfrm>
            <a:off x="8138160" y="1554480"/>
            <a:ext cx="3200040" cy="201132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10"/>
          <p:cNvSpPr/>
          <p:nvPr/>
        </p:nvSpPr>
        <p:spPr>
          <a:xfrm>
            <a:off x="8321040" y="169164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IMPROVEMENT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1"/>
          <p:cNvSpPr/>
          <p:nvPr/>
        </p:nvSpPr>
        <p:spPr>
          <a:xfrm>
            <a:off x="8321040" y="2148840"/>
            <a:ext cx="2834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+6.69 dB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12"/>
          <p:cNvSpPr/>
          <p:nvPr/>
        </p:nvSpPr>
        <p:spPr>
          <a:xfrm>
            <a:off x="1828800" y="3886200"/>
            <a:ext cx="8503560" cy="118836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13"/>
          <p:cNvSpPr/>
          <p:nvPr/>
        </p:nvSpPr>
        <p:spPr>
          <a:xfrm>
            <a:off x="2011680" y="402336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Experiment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4"/>
          <p:cNvSpPr/>
          <p:nvPr/>
        </p:nvSpPr>
        <p:spPr>
          <a:xfrm>
            <a:off x="2011680" y="448056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Speech WAV + Gaussian white noise + 6th-order Butterworth LPF + 4 kHz cutoff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5"/>
          <p:cNvSpPr/>
          <p:nvPr/>
        </p:nvSpPr>
        <p:spPr>
          <a:xfrm>
            <a:off x="1088136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"/>
          <p:cNvSpPr/>
          <p:nvPr/>
        </p:nvSpPr>
        <p:spPr>
          <a:xfrm>
            <a:off x="640080" y="41148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10. Future Scope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2"/>
          <p:cNvSpPr/>
          <p:nvPr/>
        </p:nvSpPr>
        <p:spPr>
          <a:xfrm>
            <a:off x="658440" y="109728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DSP baseline → more advanced system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3"/>
          <p:cNvSpPr/>
          <p:nvPr/>
        </p:nvSpPr>
        <p:spPr>
          <a:xfrm>
            <a:off x="731520" y="1508760"/>
            <a:ext cx="3382920" cy="35658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4"/>
          <p:cNvSpPr/>
          <p:nvPr/>
        </p:nvSpPr>
        <p:spPr>
          <a:xfrm>
            <a:off x="914400" y="1645920"/>
            <a:ext cx="19843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Phase 2: Better SP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5"/>
          <p:cNvSpPr/>
          <p:nvPr/>
        </p:nvSpPr>
        <p:spPr>
          <a:xfrm>
            <a:off x="914400" y="2103120"/>
            <a:ext cx="30171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Real-world noise types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Compare digital filters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Try different cutoff frequencies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Use larger speech datasets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6"/>
          <p:cNvSpPr/>
          <p:nvPr/>
        </p:nvSpPr>
        <p:spPr>
          <a:xfrm>
            <a:off x="4389120" y="1508760"/>
            <a:ext cx="3382920" cy="35658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7"/>
          <p:cNvSpPr/>
          <p:nvPr/>
        </p:nvSpPr>
        <p:spPr>
          <a:xfrm>
            <a:off x="4572000" y="164592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Phase 3: Machine Learning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8"/>
          <p:cNvSpPr/>
          <p:nvPr/>
        </p:nvSpPr>
        <p:spPr>
          <a:xfrm>
            <a:off x="4572000" y="2103120"/>
            <a:ext cx="30171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Extract spectral features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Train noise-estimation models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Explore CNNs / autoencoders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Compare DSP vs ML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9"/>
          <p:cNvSpPr/>
          <p:nvPr/>
        </p:nvSpPr>
        <p:spPr>
          <a:xfrm>
            <a:off x="8046720" y="1508760"/>
            <a:ext cx="3382920" cy="3565800"/>
          </a:xfrm>
          <a:prstGeom prst="roundRect">
            <a:avLst>
              <a:gd name="adj" fmla="val 16667"/>
            </a:avLst>
          </a:prstGeom>
          <a:solidFill>
            <a:srgbClr val="0F2B48"/>
          </a:solidFill>
          <a:ln>
            <a:solidFill>
              <a:srgbClr val="16BE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10"/>
          <p:cNvSpPr/>
          <p:nvPr/>
        </p:nvSpPr>
        <p:spPr>
          <a:xfrm>
            <a:off x="8229600" y="164592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Evaluation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1"/>
          <p:cNvSpPr/>
          <p:nvPr/>
        </p:nvSpPr>
        <p:spPr>
          <a:xfrm>
            <a:off x="8229600" y="2103120"/>
            <a:ext cx="30171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SNR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PESQ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STOI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MSE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Spectral analysis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2"/>
          <p:cNvSpPr/>
          <p:nvPr/>
        </p:nvSpPr>
        <p:spPr>
          <a:xfrm>
            <a:off x="1088136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Box 1"/>
          <p:cNvSpPr/>
          <p:nvPr/>
        </p:nvSpPr>
        <p:spPr>
          <a:xfrm>
            <a:off x="640080" y="41148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11. References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658440" y="109728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6BEDC"/>
                </a:solidFill>
                <a:effectLst/>
                <a:uFillTx/>
                <a:latin typeface="Calibri"/>
              </a:rPr>
              <a:t>Key research used in the project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3"/>
          <p:cNvSpPr/>
          <p:nvPr/>
        </p:nvSpPr>
        <p:spPr>
          <a:xfrm>
            <a:off x="822960" y="1645920"/>
            <a:ext cx="1042380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Boll, S. F. (1979), IEEE TASSP – Spectral Subtraction.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Ephraim &amp; Malah (1984), IEEE TASSP – MMSE-STSA.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Ephraim &amp; Malah (1985), IEEE TASSP – MMSE-LSA.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Scalart &amp; Vieira Filho (1996), ICASSP – A-priori SNR based enhancement.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4"/>
          <p:cNvSpPr/>
          <p:nvPr/>
        </p:nvSpPr>
        <p:spPr>
          <a:xfrm>
            <a:off x="1088136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LibreOffice/26.2.6.1$Linux_X86_64 LibreOffice_project/620$Build-1</Application>
  <AppVersion>15.0000</AppVersion>
  <Words>763</Words>
  <Paragraphs>111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2026-09-09T15:32:10Z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12</vt:i4>
  </property>
</Properties>
</file>